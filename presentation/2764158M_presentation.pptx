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notesMasterIdLst>
    <p:notesMasterId r:id="rId20"/>
  </p:notesMasterIdLst>
  <p:sldIdLst>
    <p:sldId id="256" r:id="rId2"/>
    <p:sldId id="264" r:id="rId3"/>
    <p:sldId id="257" r:id="rId4"/>
    <p:sldId id="262" r:id="rId5"/>
    <p:sldId id="260" r:id="rId6"/>
    <p:sldId id="261" r:id="rId7"/>
    <p:sldId id="274" r:id="rId8"/>
    <p:sldId id="265" r:id="rId9"/>
    <p:sldId id="266" r:id="rId10"/>
    <p:sldId id="269" r:id="rId11"/>
    <p:sldId id="275" r:id="rId12"/>
    <p:sldId id="267" r:id="rId13"/>
    <p:sldId id="270" r:id="rId14"/>
    <p:sldId id="271" r:id="rId15"/>
    <p:sldId id="279" r:id="rId16"/>
    <p:sldId id="280" r:id="rId17"/>
    <p:sldId id="281" r:id="rId18"/>
    <p:sldId id="26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41B7F19-EB58-4D61-9606-7D7927C1CC10}" v="77" dt="2026-03-19T09:44:23.7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40AF31D-3F2A-423B-B702-25995AD6B15A}" type="doc">
      <dgm:prSet loTypeId="urn:microsoft.com/office/officeart/2005/8/layout/vProcess5" loCatId="process" qsTypeId="urn:microsoft.com/office/officeart/2005/8/quickstyle/simple1" qsCatId="simple" csTypeId="urn:microsoft.com/office/officeart/2005/8/colors/colorful2" csCatId="colorful" phldr="1"/>
      <dgm:spPr/>
      <dgm:t>
        <a:bodyPr/>
        <a:lstStyle/>
        <a:p>
          <a:endParaRPr lang="en-US"/>
        </a:p>
      </dgm:t>
    </dgm:pt>
    <dgm:pt modelId="{AAE8694F-D47D-4E06-BDB6-146B5A26FD4E}">
      <dgm:prSet/>
      <dgm:spPr/>
      <dgm:t>
        <a:bodyPr/>
        <a:lstStyle/>
        <a:p>
          <a:r>
            <a:rPr lang="en-GB" dirty="0"/>
            <a:t>Aim: Systematically evaluate how attention mechanisms, metric learning, and transformer-inspired components extend a pretrained CNN baseline for binary MS classification (under limited-data and compute)</a:t>
          </a:r>
          <a:endParaRPr lang="en-US" dirty="0"/>
        </a:p>
      </dgm:t>
    </dgm:pt>
    <dgm:pt modelId="{E911510A-396B-478E-8BC1-DDA4C6279B0E}" type="parTrans" cxnId="{CB784AE1-7E85-444F-8078-7E38254E3876}">
      <dgm:prSet/>
      <dgm:spPr/>
      <dgm:t>
        <a:bodyPr/>
        <a:lstStyle/>
        <a:p>
          <a:endParaRPr lang="en-US"/>
        </a:p>
      </dgm:t>
    </dgm:pt>
    <dgm:pt modelId="{3578C41A-F19E-4777-A541-FCFF3E042E25}" type="sibTrans" cxnId="{CB784AE1-7E85-444F-8078-7E38254E3876}">
      <dgm:prSet/>
      <dgm:spPr/>
      <dgm:t>
        <a:bodyPr/>
        <a:lstStyle/>
        <a:p>
          <a:endParaRPr lang="en-US"/>
        </a:p>
      </dgm:t>
    </dgm:pt>
    <dgm:pt modelId="{914D1EB9-2044-4352-9536-7B7C36D856A3}">
      <dgm:prSet/>
      <dgm:spPr/>
      <dgm:t>
        <a:bodyPr/>
        <a:lstStyle/>
        <a:p>
          <a:r>
            <a:rPr lang="en-GB" dirty="0"/>
            <a:t>SRQ1 — Attention mechanisms: Do SE-Net channel, CBAM dual, and spatial-isolated attention each improve classification and calibration? And can channel and spatial contributions be separated?</a:t>
          </a:r>
          <a:endParaRPr lang="en-US" dirty="0"/>
        </a:p>
      </dgm:t>
    </dgm:pt>
    <dgm:pt modelId="{DAB27EC2-7797-4EF9-B859-2AEB3FEE1646}" type="parTrans" cxnId="{21F9C8E0-A60B-4E0D-9781-04194284D71F}">
      <dgm:prSet/>
      <dgm:spPr/>
      <dgm:t>
        <a:bodyPr/>
        <a:lstStyle/>
        <a:p>
          <a:endParaRPr lang="en-US"/>
        </a:p>
      </dgm:t>
    </dgm:pt>
    <dgm:pt modelId="{13C8C076-BA5B-453F-9181-658975ABA01F}" type="sibTrans" cxnId="{21F9C8E0-A60B-4E0D-9781-04194284D71F}">
      <dgm:prSet/>
      <dgm:spPr/>
      <dgm:t>
        <a:bodyPr/>
        <a:lstStyle/>
        <a:p>
          <a:endParaRPr lang="en-US"/>
        </a:p>
      </dgm:t>
    </dgm:pt>
    <dgm:pt modelId="{B79EC8CB-2C29-4E66-AEF6-92AC709D633D}">
      <dgm:prSet/>
      <dgm:spPr/>
      <dgm:t>
        <a:bodyPr/>
        <a:lstStyle/>
        <a:p>
          <a:r>
            <a:rPr lang="en-GB" dirty="0"/>
            <a:t>SRQ2 — Metric learning: how does replacing the standard classification head used in SRQ1 with a post-hoc NCA + </a:t>
          </a:r>
          <a:r>
            <a:rPr lang="en-GB" dirty="0" err="1"/>
            <a:t>kNN</a:t>
          </a:r>
          <a:r>
            <a:rPr lang="en-GB" dirty="0"/>
            <a:t> pipeline impact performance?</a:t>
          </a:r>
          <a:endParaRPr lang="en-US" dirty="0"/>
        </a:p>
      </dgm:t>
    </dgm:pt>
    <dgm:pt modelId="{F273569A-16A3-4B50-A21A-7FB4E0098D5E}" type="parTrans" cxnId="{4041A63D-6ECD-44BE-8FAB-07018C0ED1BA}">
      <dgm:prSet/>
      <dgm:spPr/>
      <dgm:t>
        <a:bodyPr/>
        <a:lstStyle/>
        <a:p>
          <a:endParaRPr lang="en-US"/>
        </a:p>
      </dgm:t>
    </dgm:pt>
    <dgm:pt modelId="{1BA1FA6F-4369-4C95-A081-9365A6C1A426}" type="sibTrans" cxnId="{4041A63D-6ECD-44BE-8FAB-07018C0ED1BA}">
      <dgm:prSet/>
      <dgm:spPr/>
      <dgm:t>
        <a:bodyPr/>
        <a:lstStyle/>
        <a:p>
          <a:endParaRPr lang="en-US"/>
        </a:p>
      </dgm:t>
    </dgm:pt>
    <dgm:pt modelId="{5D42FBB9-CD30-4DB4-B7A7-8DDBE954C4E7}">
      <dgm:prSet/>
      <dgm:spPr/>
      <dgm:t>
        <a:bodyPr/>
        <a:lstStyle/>
        <a:p>
          <a:r>
            <a:rPr lang="en-GB" dirty="0"/>
            <a:t>SRQ3 — Tokenised Self-Attention: Does a single MHSA layer over </a:t>
          </a:r>
          <a:r>
            <a:rPr lang="en-GB" dirty="0" err="1"/>
            <a:t>ViT</a:t>
          </a:r>
          <a:r>
            <a:rPr lang="en-GB" dirty="0"/>
            <a:t>-style CNN spatial tokens improve on the baseline classification head?</a:t>
          </a:r>
          <a:endParaRPr lang="en-US" dirty="0"/>
        </a:p>
      </dgm:t>
    </dgm:pt>
    <dgm:pt modelId="{62B13FA4-DC40-4990-9AE8-219531627E66}" type="parTrans" cxnId="{59162B6F-12FF-4F70-9790-BB1D4BE0FA0C}">
      <dgm:prSet/>
      <dgm:spPr/>
      <dgm:t>
        <a:bodyPr/>
        <a:lstStyle/>
        <a:p>
          <a:endParaRPr lang="en-US"/>
        </a:p>
      </dgm:t>
    </dgm:pt>
    <dgm:pt modelId="{87E5E184-3A13-4BF2-984C-DE5F96291DAB}" type="sibTrans" cxnId="{59162B6F-12FF-4F70-9790-BB1D4BE0FA0C}">
      <dgm:prSet/>
      <dgm:spPr/>
      <dgm:t>
        <a:bodyPr/>
        <a:lstStyle/>
        <a:p>
          <a:endParaRPr lang="en-US"/>
        </a:p>
      </dgm:t>
    </dgm:pt>
    <dgm:pt modelId="{67291E6D-98DB-49C0-AF80-64BD0FC95734}">
      <dgm:prSet/>
      <dgm:spPr/>
      <dgm:t>
        <a:bodyPr/>
        <a:lstStyle/>
        <a:p>
          <a:r>
            <a:rPr lang="en-GB" dirty="0"/>
            <a:t>SRQ4 — Transformer comparison: how does the best CNN variant compare against a parameter-matched Vision Transformer trained under the same protocol?</a:t>
          </a:r>
          <a:endParaRPr lang="en-US" dirty="0"/>
        </a:p>
      </dgm:t>
    </dgm:pt>
    <dgm:pt modelId="{CF292917-6804-4D54-87C0-837401D447F4}" type="parTrans" cxnId="{AC8AE36D-96AC-4AC7-AD98-385817D6A48E}">
      <dgm:prSet/>
      <dgm:spPr/>
      <dgm:t>
        <a:bodyPr/>
        <a:lstStyle/>
        <a:p>
          <a:endParaRPr lang="en-US"/>
        </a:p>
      </dgm:t>
    </dgm:pt>
    <dgm:pt modelId="{41395809-BE4F-475B-8E39-C24CF56D8D29}" type="sibTrans" cxnId="{AC8AE36D-96AC-4AC7-AD98-385817D6A48E}">
      <dgm:prSet/>
      <dgm:spPr/>
      <dgm:t>
        <a:bodyPr/>
        <a:lstStyle/>
        <a:p>
          <a:endParaRPr lang="en-US"/>
        </a:p>
      </dgm:t>
    </dgm:pt>
    <dgm:pt modelId="{197AE4A2-5BD9-4309-B13D-EF8F31CD50DE}" type="pres">
      <dgm:prSet presAssocID="{640AF31D-3F2A-423B-B702-25995AD6B15A}" presName="outerComposite" presStyleCnt="0">
        <dgm:presLayoutVars>
          <dgm:chMax val="5"/>
          <dgm:dir/>
          <dgm:resizeHandles val="exact"/>
        </dgm:presLayoutVars>
      </dgm:prSet>
      <dgm:spPr/>
    </dgm:pt>
    <dgm:pt modelId="{36A5B9CB-B008-4AF6-AA77-463797E9EAEF}" type="pres">
      <dgm:prSet presAssocID="{640AF31D-3F2A-423B-B702-25995AD6B15A}" presName="dummyMaxCanvas" presStyleCnt="0">
        <dgm:presLayoutVars/>
      </dgm:prSet>
      <dgm:spPr/>
    </dgm:pt>
    <dgm:pt modelId="{0454D822-BF6B-41D8-8D64-37348E30F02A}" type="pres">
      <dgm:prSet presAssocID="{640AF31D-3F2A-423B-B702-25995AD6B15A}" presName="FiveNodes_1" presStyleLbl="node1" presStyleIdx="0" presStyleCnt="5">
        <dgm:presLayoutVars>
          <dgm:bulletEnabled val="1"/>
        </dgm:presLayoutVars>
      </dgm:prSet>
      <dgm:spPr/>
    </dgm:pt>
    <dgm:pt modelId="{FDF80B51-3A15-4CCF-8B57-128C8110014F}" type="pres">
      <dgm:prSet presAssocID="{640AF31D-3F2A-423B-B702-25995AD6B15A}" presName="FiveNodes_2" presStyleLbl="node1" presStyleIdx="1" presStyleCnt="5">
        <dgm:presLayoutVars>
          <dgm:bulletEnabled val="1"/>
        </dgm:presLayoutVars>
      </dgm:prSet>
      <dgm:spPr/>
    </dgm:pt>
    <dgm:pt modelId="{F8D46871-5D04-4297-B30A-E4747ED3635D}" type="pres">
      <dgm:prSet presAssocID="{640AF31D-3F2A-423B-B702-25995AD6B15A}" presName="FiveNodes_3" presStyleLbl="node1" presStyleIdx="2" presStyleCnt="5">
        <dgm:presLayoutVars>
          <dgm:bulletEnabled val="1"/>
        </dgm:presLayoutVars>
      </dgm:prSet>
      <dgm:spPr/>
    </dgm:pt>
    <dgm:pt modelId="{DB7FE199-99DE-41D2-8A5C-E69748DEF0C5}" type="pres">
      <dgm:prSet presAssocID="{640AF31D-3F2A-423B-B702-25995AD6B15A}" presName="FiveNodes_4" presStyleLbl="node1" presStyleIdx="3" presStyleCnt="5">
        <dgm:presLayoutVars>
          <dgm:bulletEnabled val="1"/>
        </dgm:presLayoutVars>
      </dgm:prSet>
      <dgm:spPr/>
    </dgm:pt>
    <dgm:pt modelId="{33C14083-FA12-45D5-BC56-744E9F7FF36C}" type="pres">
      <dgm:prSet presAssocID="{640AF31D-3F2A-423B-B702-25995AD6B15A}" presName="FiveNodes_5" presStyleLbl="node1" presStyleIdx="4" presStyleCnt="5">
        <dgm:presLayoutVars>
          <dgm:bulletEnabled val="1"/>
        </dgm:presLayoutVars>
      </dgm:prSet>
      <dgm:spPr/>
    </dgm:pt>
    <dgm:pt modelId="{6305EF8F-A2BA-4DA5-BF01-9D75E1529892}" type="pres">
      <dgm:prSet presAssocID="{640AF31D-3F2A-423B-B702-25995AD6B15A}" presName="FiveConn_1-2" presStyleLbl="fgAccFollowNode1" presStyleIdx="0" presStyleCnt="4">
        <dgm:presLayoutVars>
          <dgm:bulletEnabled val="1"/>
        </dgm:presLayoutVars>
      </dgm:prSet>
      <dgm:spPr/>
    </dgm:pt>
    <dgm:pt modelId="{BB0369D8-E8E0-4286-9FE1-C757EC25CDF9}" type="pres">
      <dgm:prSet presAssocID="{640AF31D-3F2A-423B-B702-25995AD6B15A}" presName="FiveConn_2-3" presStyleLbl="fgAccFollowNode1" presStyleIdx="1" presStyleCnt="4">
        <dgm:presLayoutVars>
          <dgm:bulletEnabled val="1"/>
        </dgm:presLayoutVars>
      </dgm:prSet>
      <dgm:spPr/>
    </dgm:pt>
    <dgm:pt modelId="{D51A0B5D-D614-4EEB-ACA9-8678E3D8EEE8}" type="pres">
      <dgm:prSet presAssocID="{640AF31D-3F2A-423B-B702-25995AD6B15A}" presName="FiveConn_3-4" presStyleLbl="fgAccFollowNode1" presStyleIdx="2" presStyleCnt="4">
        <dgm:presLayoutVars>
          <dgm:bulletEnabled val="1"/>
        </dgm:presLayoutVars>
      </dgm:prSet>
      <dgm:spPr/>
    </dgm:pt>
    <dgm:pt modelId="{E752A558-08D6-49F4-AC94-B64619217715}" type="pres">
      <dgm:prSet presAssocID="{640AF31D-3F2A-423B-B702-25995AD6B15A}" presName="FiveConn_4-5" presStyleLbl="fgAccFollowNode1" presStyleIdx="3" presStyleCnt="4">
        <dgm:presLayoutVars>
          <dgm:bulletEnabled val="1"/>
        </dgm:presLayoutVars>
      </dgm:prSet>
      <dgm:spPr/>
    </dgm:pt>
    <dgm:pt modelId="{9E00A924-E774-4DE1-A5CE-8A7C96A01C36}" type="pres">
      <dgm:prSet presAssocID="{640AF31D-3F2A-423B-B702-25995AD6B15A}" presName="FiveNodes_1_text" presStyleLbl="node1" presStyleIdx="4" presStyleCnt="5">
        <dgm:presLayoutVars>
          <dgm:bulletEnabled val="1"/>
        </dgm:presLayoutVars>
      </dgm:prSet>
      <dgm:spPr/>
    </dgm:pt>
    <dgm:pt modelId="{1EAE5CA6-5084-4C02-9888-A3EF8353C993}" type="pres">
      <dgm:prSet presAssocID="{640AF31D-3F2A-423B-B702-25995AD6B15A}" presName="FiveNodes_2_text" presStyleLbl="node1" presStyleIdx="4" presStyleCnt="5">
        <dgm:presLayoutVars>
          <dgm:bulletEnabled val="1"/>
        </dgm:presLayoutVars>
      </dgm:prSet>
      <dgm:spPr/>
    </dgm:pt>
    <dgm:pt modelId="{D01572FA-E40E-494C-9D01-6FEB1C62E52D}" type="pres">
      <dgm:prSet presAssocID="{640AF31D-3F2A-423B-B702-25995AD6B15A}" presName="FiveNodes_3_text" presStyleLbl="node1" presStyleIdx="4" presStyleCnt="5">
        <dgm:presLayoutVars>
          <dgm:bulletEnabled val="1"/>
        </dgm:presLayoutVars>
      </dgm:prSet>
      <dgm:spPr/>
    </dgm:pt>
    <dgm:pt modelId="{BF27CE80-6147-4D21-9656-A89CC36692F2}" type="pres">
      <dgm:prSet presAssocID="{640AF31D-3F2A-423B-B702-25995AD6B15A}" presName="FiveNodes_4_text" presStyleLbl="node1" presStyleIdx="4" presStyleCnt="5">
        <dgm:presLayoutVars>
          <dgm:bulletEnabled val="1"/>
        </dgm:presLayoutVars>
      </dgm:prSet>
      <dgm:spPr/>
    </dgm:pt>
    <dgm:pt modelId="{9E970DFA-A09B-46F2-B625-6ADD8C201198}" type="pres">
      <dgm:prSet presAssocID="{640AF31D-3F2A-423B-B702-25995AD6B15A}" presName="FiveNodes_5_text" presStyleLbl="node1" presStyleIdx="4" presStyleCnt="5">
        <dgm:presLayoutVars>
          <dgm:bulletEnabled val="1"/>
        </dgm:presLayoutVars>
      </dgm:prSet>
      <dgm:spPr/>
    </dgm:pt>
  </dgm:ptLst>
  <dgm:cxnLst>
    <dgm:cxn modelId="{399F6B20-02FF-450C-B1C7-7D3D95747DF1}" type="presOf" srcId="{AAE8694F-D47D-4E06-BDB6-146B5A26FD4E}" destId="{0454D822-BF6B-41D8-8D64-37348E30F02A}" srcOrd="0" destOrd="0" presId="urn:microsoft.com/office/officeart/2005/8/layout/vProcess5"/>
    <dgm:cxn modelId="{9C34512C-463A-40AB-B487-65F6FFF2BEBD}" type="presOf" srcId="{B79EC8CB-2C29-4E66-AEF6-92AC709D633D}" destId="{D01572FA-E40E-494C-9D01-6FEB1C62E52D}" srcOrd="1" destOrd="0" presId="urn:microsoft.com/office/officeart/2005/8/layout/vProcess5"/>
    <dgm:cxn modelId="{07047232-B21C-4F12-8C76-8E17D9A4D451}" type="presOf" srcId="{67291E6D-98DB-49C0-AF80-64BD0FC95734}" destId="{33C14083-FA12-45D5-BC56-744E9F7FF36C}" srcOrd="0" destOrd="0" presId="urn:microsoft.com/office/officeart/2005/8/layout/vProcess5"/>
    <dgm:cxn modelId="{4041A63D-6ECD-44BE-8FAB-07018C0ED1BA}" srcId="{640AF31D-3F2A-423B-B702-25995AD6B15A}" destId="{B79EC8CB-2C29-4E66-AEF6-92AC709D633D}" srcOrd="2" destOrd="0" parTransId="{F273569A-16A3-4B50-A21A-7FB4E0098D5E}" sibTransId="{1BA1FA6F-4369-4C95-A081-9365A6C1A426}"/>
    <dgm:cxn modelId="{ACEB803E-9D8D-4B1B-A842-F68336A0DD8D}" type="presOf" srcId="{3578C41A-F19E-4777-A541-FCFF3E042E25}" destId="{6305EF8F-A2BA-4DA5-BF01-9D75E1529892}" srcOrd="0" destOrd="0" presId="urn:microsoft.com/office/officeart/2005/8/layout/vProcess5"/>
    <dgm:cxn modelId="{30454A61-E7B8-4BB5-8418-846B91AC330A}" type="presOf" srcId="{1BA1FA6F-4369-4C95-A081-9365A6C1A426}" destId="{D51A0B5D-D614-4EEB-ACA9-8678E3D8EEE8}" srcOrd="0" destOrd="0" presId="urn:microsoft.com/office/officeart/2005/8/layout/vProcess5"/>
    <dgm:cxn modelId="{CD77C543-E859-45C2-90BA-ECE171A3ABD0}" type="presOf" srcId="{87E5E184-3A13-4BF2-984C-DE5F96291DAB}" destId="{E752A558-08D6-49F4-AC94-B64619217715}" srcOrd="0" destOrd="0" presId="urn:microsoft.com/office/officeart/2005/8/layout/vProcess5"/>
    <dgm:cxn modelId="{D4F1F948-E177-4B32-9EDD-E665CE12FC78}" type="presOf" srcId="{640AF31D-3F2A-423B-B702-25995AD6B15A}" destId="{197AE4A2-5BD9-4309-B13D-EF8F31CD50DE}" srcOrd="0" destOrd="0" presId="urn:microsoft.com/office/officeart/2005/8/layout/vProcess5"/>
    <dgm:cxn modelId="{1C100F49-31BF-4EAC-A76C-172FDCEF3029}" type="presOf" srcId="{B79EC8CB-2C29-4E66-AEF6-92AC709D633D}" destId="{F8D46871-5D04-4297-B30A-E4747ED3635D}" srcOrd="0" destOrd="0" presId="urn:microsoft.com/office/officeart/2005/8/layout/vProcess5"/>
    <dgm:cxn modelId="{FEF8396D-4AB1-430B-BCA7-9C9238E58A41}" type="presOf" srcId="{13C8C076-BA5B-453F-9181-658975ABA01F}" destId="{BB0369D8-E8E0-4286-9FE1-C757EC25CDF9}" srcOrd="0" destOrd="0" presId="urn:microsoft.com/office/officeart/2005/8/layout/vProcess5"/>
    <dgm:cxn modelId="{AC8AE36D-96AC-4AC7-AD98-385817D6A48E}" srcId="{640AF31D-3F2A-423B-B702-25995AD6B15A}" destId="{67291E6D-98DB-49C0-AF80-64BD0FC95734}" srcOrd="4" destOrd="0" parTransId="{CF292917-6804-4D54-87C0-837401D447F4}" sibTransId="{41395809-BE4F-475B-8E39-C24CF56D8D29}"/>
    <dgm:cxn modelId="{D22BFE4D-B562-483C-A082-AEA278F74B23}" type="presOf" srcId="{5D42FBB9-CD30-4DB4-B7A7-8DDBE954C4E7}" destId="{BF27CE80-6147-4D21-9656-A89CC36692F2}" srcOrd="1" destOrd="0" presId="urn:microsoft.com/office/officeart/2005/8/layout/vProcess5"/>
    <dgm:cxn modelId="{59162B6F-12FF-4F70-9790-BB1D4BE0FA0C}" srcId="{640AF31D-3F2A-423B-B702-25995AD6B15A}" destId="{5D42FBB9-CD30-4DB4-B7A7-8DDBE954C4E7}" srcOrd="3" destOrd="0" parTransId="{62B13FA4-DC40-4990-9AE8-219531627E66}" sibTransId="{87E5E184-3A13-4BF2-984C-DE5F96291DAB}"/>
    <dgm:cxn modelId="{F8BD055A-0AAE-40D4-B679-2C22FB1CCE73}" type="presOf" srcId="{914D1EB9-2044-4352-9536-7B7C36D856A3}" destId="{1EAE5CA6-5084-4C02-9888-A3EF8353C993}" srcOrd="1" destOrd="0" presId="urn:microsoft.com/office/officeart/2005/8/layout/vProcess5"/>
    <dgm:cxn modelId="{FC5C4E7A-FE6C-4EE7-9BCE-83BD0B41063E}" type="presOf" srcId="{67291E6D-98DB-49C0-AF80-64BD0FC95734}" destId="{9E970DFA-A09B-46F2-B625-6ADD8C201198}" srcOrd="1" destOrd="0" presId="urn:microsoft.com/office/officeart/2005/8/layout/vProcess5"/>
    <dgm:cxn modelId="{73BC5EC0-55E8-4174-A23A-BF18A4C4A675}" type="presOf" srcId="{5D42FBB9-CD30-4DB4-B7A7-8DDBE954C4E7}" destId="{DB7FE199-99DE-41D2-8A5C-E69748DEF0C5}" srcOrd="0" destOrd="0" presId="urn:microsoft.com/office/officeart/2005/8/layout/vProcess5"/>
    <dgm:cxn modelId="{6B0596CB-A279-4926-B001-B0F7968EEE9D}" type="presOf" srcId="{914D1EB9-2044-4352-9536-7B7C36D856A3}" destId="{FDF80B51-3A15-4CCF-8B57-128C8110014F}" srcOrd="0" destOrd="0" presId="urn:microsoft.com/office/officeart/2005/8/layout/vProcess5"/>
    <dgm:cxn modelId="{21F9C8E0-A60B-4E0D-9781-04194284D71F}" srcId="{640AF31D-3F2A-423B-B702-25995AD6B15A}" destId="{914D1EB9-2044-4352-9536-7B7C36D856A3}" srcOrd="1" destOrd="0" parTransId="{DAB27EC2-7797-4EF9-B859-2AEB3FEE1646}" sibTransId="{13C8C076-BA5B-453F-9181-658975ABA01F}"/>
    <dgm:cxn modelId="{00975FE1-55A4-45D3-BD79-F6ECEA6927E1}" type="presOf" srcId="{AAE8694F-D47D-4E06-BDB6-146B5A26FD4E}" destId="{9E00A924-E774-4DE1-A5CE-8A7C96A01C36}" srcOrd="1" destOrd="0" presId="urn:microsoft.com/office/officeart/2005/8/layout/vProcess5"/>
    <dgm:cxn modelId="{CB784AE1-7E85-444F-8078-7E38254E3876}" srcId="{640AF31D-3F2A-423B-B702-25995AD6B15A}" destId="{AAE8694F-D47D-4E06-BDB6-146B5A26FD4E}" srcOrd="0" destOrd="0" parTransId="{E911510A-396B-478E-8BC1-DDA4C6279B0E}" sibTransId="{3578C41A-F19E-4777-A541-FCFF3E042E25}"/>
    <dgm:cxn modelId="{24242A9B-1F54-45AE-981B-481E0471B962}" type="presParOf" srcId="{197AE4A2-5BD9-4309-B13D-EF8F31CD50DE}" destId="{36A5B9CB-B008-4AF6-AA77-463797E9EAEF}" srcOrd="0" destOrd="0" presId="urn:microsoft.com/office/officeart/2005/8/layout/vProcess5"/>
    <dgm:cxn modelId="{EACD53E2-9243-4707-9074-9BA429BE4CE0}" type="presParOf" srcId="{197AE4A2-5BD9-4309-B13D-EF8F31CD50DE}" destId="{0454D822-BF6B-41D8-8D64-37348E30F02A}" srcOrd="1" destOrd="0" presId="urn:microsoft.com/office/officeart/2005/8/layout/vProcess5"/>
    <dgm:cxn modelId="{B010E614-B345-4FB1-8E20-AAF7978A7865}" type="presParOf" srcId="{197AE4A2-5BD9-4309-B13D-EF8F31CD50DE}" destId="{FDF80B51-3A15-4CCF-8B57-128C8110014F}" srcOrd="2" destOrd="0" presId="urn:microsoft.com/office/officeart/2005/8/layout/vProcess5"/>
    <dgm:cxn modelId="{9A073477-CA43-4E82-948E-EB8AC0C2B3E6}" type="presParOf" srcId="{197AE4A2-5BD9-4309-B13D-EF8F31CD50DE}" destId="{F8D46871-5D04-4297-B30A-E4747ED3635D}" srcOrd="3" destOrd="0" presId="urn:microsoft.com/office/officeart/2005/8/layout/vProcess5"/>
    <dgm:cxn modelId="{7052C1C0-DFF1-4338-AFD2-E7C918EBC93D}" type="presParOf" srcId="{197AE4A2-5BD9-4309-B13D-EF8F31CD50DE}" destId="{DB7FE199-99DE-41D2-8A5C-E69748DEF0C5}" srcOrd="4" destOrd="0" presId="urn:microsoft.com/office/officeart/2005/8/layout/vProcess5"/>
    <dgm:cxn modelId="{2F36C138-EF67-4FA6-814C-6910BC7235CC}" type="presParOf" srcId="{197AE4A2-5BD9-4309-B13D-EF8F31CD50DE}" destId="{33C14083-FA12-45D5-BC56-744E9F7FF36C}" srcOrd="5" destOrd="0" presId="urn:microsoft.com/office/officeart/2005/8/layout/vProcess5"/>
    <dgm:cxn modelId="{07BBBF7E-6422-4289-8CFC-9997FB1FEFCC}" type="presParOf" srcId="{197AE4A2-5BD9-4309-B13D-EF8F31CD50DE}" destId="{6305EF8F-A2BA-4DA5-BF01-9D75E1529892}" srcOrd="6" destOrd="0" presId="urn:microsoft.com/office/officeart/2005/8/layout/vProcess5"/>
    <dgm:cxn modelId="{D5E2B271-FD96-436F-8CC7-8F7554C1CF62}" type="presParOf" srcId="{197AE4A2-5BD9-4309-B13D-EF8F31CD50DE}" destId="{BB0369D8-E8E0-4286-9FE1-C757EC25CDF9}" srcOrd="7" destOrd="0" presId="urn:microsoft.com/office/officeart/2005/8/layout/vProcess5"/>
    <dgm:cxn modelId="{628EBF10-2BB2-450F-A1EE-846B6E04405E}" type="presParOf" srcId="{197AE4A2-5BD9-4309-B13D-EF8F31CD50DE}" destId="{D51A0B5D-D614-4EEB-ACA9-8678E3D8EEE8}" srcOrd="8" destOrd="0" presId="urn:microsoft.com/office/officeart/2005/8/layout/vProcess5"/>
    <dgm:cxn modelId="{1ED0F089-3B17-4CAF-8C44-FEB6564930FE}" type="presParOf" srcId="{197AE4A2-5BD9-4309-B13D-EF8F31CD50DE}" destId="{E752A558-08D6-49F4-AC94-B64619217715}" srcOrd="9" destOrd="0" presId="urn:microsoft.com/office/officeart/2005/8/layout/vProcess5"/>
    <dgm:cxn modelId="{D3492414-C6CE-4F1E-957B-E9EFF1D9D01E}" type="presParOf" srcId="{197AE4A2-5BD9-4309-B13D-EF8F31CD50DE}" destId="{9E00A924-E774-4DE1-A5CE-8A7C96A01C36}" srcOrd="10" destOrd="0" presId="urn:microsoft.com/office/officeart/2005/8/layout/vProcess5"/>
    <dgm:cxn modelId="{C63E34CD-D122-4ACF-B594-F8AAFC1F6C52}" type="presParOf" srcId="{197AE4A2-5BD9-4309-B13D-EF8F31CD50DE}" destId="{1EAE5CA6-5084-4C02-9888-A3EF8353C993}" srcOrd="11" destOrd="0" presId="urn:microsoft.com/office/officeart/2005/8/layout/vProcess5"/>
    <dgm:cxn modelId="{F26E2E03-C20E-410C-B092-54E59B9E8769}" type="presParOf" srcId="{197AE4A2-5BD9-4309-B13D-EF8F31CD50DE}" destId="{D01572FA-E40E-494C-9D01-6FEB1C62E52D}" srcOrd="12" destOrd="0" presId="urn:microsoft.com/office/officeart/2005/8/layout/vProcess5"/>
    <dgm:cxn modelId="{1E93AECA-7503-42C0-AA15-F7704B8F4F93}" type="presParOf" srcId="{197AE4A2-5BD9-4309-B13D-EF8F31CD50DE}" destId="{BF27CE80-6147-4D21-9656-A89CC36692F2}" srcOrd="13" destOrd="0" presId="urn:microsoft.com/office/officeart/2005/8/layout/vProcess5"/>
    <dgm:cxn modelId="{69352D17-737E-4B01-AFB9-853B8EB61072}" type="presParOf" srcId="{197AE4A2-5BD9-4309-B13D-EF8F31CD50DE}" destId="{9E970DFA-A09B-46F2-B625-6ADD8C201198}"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54D822-BF6B-41D8-8D64-37348E30F02A}">
      <dsp:nvSpPr>
        <dsp:cNvPr id="0" name=""/>
        <dsp:cNvSpPr/>
      </dsp:nvSpPr>
      <dsp:spPr>
        <a:xfrm>
          <a:off x="0" y="0"/>
          <a:ext cx="7870698" cy="724988"/>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GB" sz="1300" kern="1200" dirty="0"/>
            <a:t>Aim: Systematically evaluate how attention mechanisms, metric learning, and transformer-inspired components extend a pretrained CNN baseline for binary MS classification (under limited-data and compute)</a:t>
          </a:r>
          <a:endParaRPr lang="en-US" sz="1300" kern="1200" dirty="0"/>
        </a:p>
      </dsp:txBody>
      <dsp:txXfrm>
        <a:off x="21234" y="21234"/>
        <a:ext cx="7003555" cy="682520"/>
      </dsp:txXfrm>
    </dsp:sp>
    <dsp:sp modelId="{FDF80B51-3A15-4CCF-8B57-128C8110014F}">
      <dsp:nvSpPr>
        <dsp:cNvPr id="0" name=""/>
        <dsp:cNvSpPr/>
      </dsp:nvSpPr>
      <dsp:spPr>
        <a:xfrm>
          <a:off x="587746" y="825681"/>
          <a:ext cx="7870698" cy="724988"/>
        </a:xfrm>
        <a:prstGeom prst="roundRect">
          <a:avLst>
            <a:gd name="adj" fmla="val 10000"/>
          </a:avLst>
        </a:prstGeom>
        <a:solidFill>
          <a:schemeClr val="accent2">
            <a:hueOff val="-928833"/>
            <a:satOff val="-866"/>
            <a:lumOff val="137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GB" sz="1300" kern="1200" dirty="0"/>
            <a:t>SRQ1 — Attention mechanisms: Do SE-Net channel, CBAM dual, and spatial-isolated attention each improve classification and calibration? And can channel and spatial contributions be separated?</a:t>
          </a:r>
          <a:endParaRPr lang="en-US" sz="1300" kern="1200" dirty="0"/>
        </a:p>
      </dsp:txBody>
      <dsp:txXfrm>
        <a:off x="608980" y="846915"/>
        <a:ext cx="6769240" cy="682520"/>
      </dsp:txXfrm>
    </dsp:sp>
    <dsp:sp modelId="{F8D46871-5D04-4297-B30A-E4747ED3635D}">
      <dsp:nvSpPr>
        <dsp:cNvPr id="0" name=""/>
        <dsp:cNvSpPr/>
      </dsp:nvSpPr>
      <dsp:spPr>
        <a:xfrm>
          <a:off x="1175493" y="1651362"/>
          <a:ext cx="7870698" cy="724988"/>
        </a:xfrm>
        <a:prstGeom prst="roundRect">
          <a:avLst>
            <a:gd name="adj" fmla="val 10000"/>
          </a:avLst>
        </a:prstGeom>
        <a:solidFill>
          <a:schemeClr val="accent2">
            <a:hueOff val="-1857666"/>
            <a:satOff val="-1732"/>
            <a:lumOff val="274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GB" sz="1300" kern="1200" dirty="0"/>
            <a:t>SRQ2 — Metric learning: how does replacing the standard classification head used in SRQ1 with a post-hoc NCA + </a:t>
          </a:r>
          <a:r>
            <a:rPr lang="en-GB" sz="1300" kern="1200" dirty="0" err="1"/>
            <a:t>kNN</a:t>
          </a:r>
          <a:r>
            <a:rPr lang="en-GB" sz="1300" kern="1200" dirty="0"/>
            <a:t> pipeline impact performance?</a:t>
          </a:r>
          <a:endParaRPr lang="en-US" sz="1300" kern="1200" dirty="0"/>
        </a:p>
      </dsp:txBody>
      <dsp:txXfrm>
        <a:off x="1196727" y="1672596"/>
        <a:ext cx="6769240" cy="682520"/>
      </dsp:txXfrm>
    </dsp:sp>
    <dsp:sp modelId="{DB7FE199-99DE-41D2-8A5C-E69748DEF0C5}">
      <dsp:nvSpPr>
        <dsp:cNvPr id="0" name=""/>
        <dsp:cNvSpPr/>
      </dsp:nvSpPr>
      <dsp:spPr>
        <a:xfrm>
          <a:off x="1763240" y="2477044"/>
          <a:ext cx="7870698" cy="724988"/>
        </a:xfrm>
        <a:prstGeom prst="roundRect">
          <a:avLst>
            <a:gd name="adj" fmla="val 10000"/>
          </a:avLst>
        </a:prstGeom>
        <a:solidFill>
          <a:schemeClr val="accent2">
            <a:hueOff val="-2786499"/>
            <a:satOff val="-2598"/>
            <a:lumOff val="411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GB" sz="1300" kern="1200" dirty="0"/>
            <a:t>SRQ3 — Tokenised Self-Attention: Does a single MHSA layer over </a:t>
          </a:r>
          <a:r>
            <a:rPr lang="en-GB" sz="1300" kern="1200" dirty="0" err="1"/>
            <a:t>ViT</a:t>
          </a:r>
          <a:r>
            <a:rPr lang="en-GB" sz="1300" kern="1200" dirty="0"/>
            <a:t>-style CNN spatial tokens improve on the baseline classification head?</a:t>
          </a:r>
          <a:endParaRPr lang="en-US" sz="1300" kern="1200" dirty="0"/>
        </a:p>
      </dsp:txBody>
      <dsp:txXfrm>
        <a:off x="1784474" y="2498278"/>
        <a:ext cx="6769240" cy="682520"/>
      </dsp:txXfrm>
    </dsp:sp>
    <dsp:sp modelId="{33C14083-FA12-45D5-BC56-744E9F7FF36C}">
      <dsp:nvSpPr>
        <dsp:cNvPr id="0" name=""/>
        <dsp:cNvSpPr/>
      </dsp:nvSpPr>
      <dsp:spPr>
        <a:xfrm>
          <a:off x="2350987" y="3302725"/>
          <a:ext cx="7870698" cy="724988"/>
        </a:xfrm>
        <a:prstGeom prst="roundRect">
          <a:avLst>
            <a:gd name="adj" fmla="val 10000"/>
          </a:avLst>
        </a:prstGeom>
        <a:solidFill>
          <a:schemeClr val="accent2">
            <a:hueOff val="-3715331"/>
            <a:satOff val="-3464"/>
            <a:lumOff val="549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GB" sz="1300" kern="1200" dirty="0"/>
            <a:t>SRQ4 — Transformer comparison: how does the best CNN variant compare against a parameter-matched Vision Transformer trained under the same protocol?</a:t>
          </a:r>
          <a:endParaRPr lang="en-US" sz="1300" kern="1200" dirty="0"/>
        </a:p>
      </dsp:txBody>
      <dsp:txXfrm>
        <a:off x="2372221" y="3323959"/>
        <a:ext cx="6769240" cy="682520"/>
      </dsp:txXfrm>
    </dsp:sp>
    <dsp:sp modelId="{6305EF8F-A2BA-4DA5-BF01-9D75E1529892}">
      <dsp:nvSpPr>
        <dsp:cNvPr id="0" name=""/>
        <dsp:cNvSpPr/>
      </dsp:nvSpPr>
      <dsp:spPr>
        <a:xfrm>
          <a:off x="7399455" y="529644"/>
          <a:ext cx="471242" cy="471242"/>
        </a:xfrm>
        <a:prstGeom prst="downArrow">
          <a:avLst>
            <a:gd name="adj1" fmla="val 55000"/>
            <a:gd name="adj2" fmla="val 45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7505484" y="529644"/>
        <a:ext cx="259184" cy="354610"/>
      </dsp:txXfrm>
    </dsp:sp>
    <dsp:sp modelId="{BB0369D8-E8E0-4286-9FE1-C757EC25CDF9}">
      <dsp:nvSpPr>
        <dsp:cNvPr id="0" name=""/>
        <dsp:cNvSpPr/>
      </dsp:nvSpPr>
      <dsp:spPr>
        <a:xfrm>
          <a:off x="7987202" y="1355325"/>
          <a:ext cx="471242" cy="471242"/>
        </a:xfrm>
        <a:prstGeom prst="downArrow">
          <a:avLst>
            <a:gd name="adj1" fmla="val 55000"/>
            <a:gd name="adj2" fmla="val 45000"/>
          </a:avLst>
        </a:prstGeom>
        <a:solidFill>
          <a:schemeClr val="accent2">
            <a:tint val="40000"/>
            <a:alpha val="90000"/>
            <a:hueOff val="-1177485"/>
            <a:satOff val="-2"/>
            <a:lumOff val="350"/>
            <a:alphaOff val="0"/>
          </a:schemeClr>
        </a:solidFill>
        <a:ln w="12700" cap="flat" cmpd="sng" algn="ctr">
          <a:solidFill>
            <a:schemeClr val="accent2">
              <a:tint val="40000"/>
              <a:alpha val="90000"/>
              <a:hueOff val="-1177485"/>
              <a:satOff val="-2"/>
              <a:lumOff val="35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8093231" y="1355325"/>
        <a:ext cx="259184" cy="354610"/>
      </dsp:txXfrm>
    </dsp:sp>
    <dsp:sp modelId="{D51A0B5D-D614-4EEB-ACA9-8678E3D8EEE8}">
      <dsp:nvSpPr>
        <dsp:cNvPr id="0" name=""/>
        <dsp:cNvSpPr/>
      </dsp:nvSpPr>
      <dsp:spPr>
        <a:xfrm>
          <a:off x="8574949" y="2168923"/>
          <a:ext cx="471242" cy="471242"/>
        </a:xfrm>
        <a:prstGeom prst="downArrow">
          <a:avLst>
            <a:gd name="adj1" fmla="val 55000"/>
            <a:gd name="adj2" fmla="val 45000"/>
          </a:avLst>
        </a:prstGeom>
        <a:solidFill>
          <a:schemeClr val="accent2">
            <a:tint val="40000"/>
            <a:alpha val="90000"/>
            <a:hueOff val="-2354970"/>
            <a:satOff val="-3"/>
            <a:lumOff val="701"/>
            <a:alphaOff val="0"/>
          </a:schemeClr>
        </a:solidFill>
        <a:ln w="12700" cap="flat" cmpd="sng" algn="ctr">
          <a:solidFill>
            <a:schemeClr val="accent2">
              <a:tint val="40000"/>
              <a:alpha val="90000"/>
              <a:hueOff val="-2354970"/>
              <a:satOff val="-3"/>
              <a:lumOff val="70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8680978" y="2168923"/>
        <a:ext cx="259184" cy="354610"/>
      </dsp:txXfrm>
    </dsp:sp>
    <dsp:sp modelId="{E752A558-08D6-49F4-AC94-B64619217715}">
      <dsp:nvSpPr>
        <dsp:cNvPr id="0" name=""/>
        <dsp:cNvSpPr/>
      </dsp:nvSpPr>
      <dsp:spPr>
        <a:xfrm>
          <a:off x="9162696" y="3002660"/>
          <a:ext cx="471242" cy="471242"/>
        </a:xfrm>
        <a:prstGeom prst="downArrow">
          <a:avLst>
            <a:gd name="adj1" fmla="val 55000"/>
            <a:gd name="adj2" fmla="val 45000"/>
          </a:avLst>
        </a:prstGeom>
        <a:solidFill>
          <a:schemeClr val="accent2">
            <a:tint val="40000"/>
            <a:alpha val="90000"/>
            <a:hueOff val="-3532455"/>
            <a:satOff val="-5"/>
            <a:lumOff val="1051"/>
            <a:alphaOff val="0"/>
          </a:schemeClr>
        </a:solidFill>
        <a:ln w="12700" cap="flat" cmpd="sng" algn="ctr">
          <a:solidFill>
            <a:schemeClr val="accent2">
              <a:tint val="40000"/>
              <a:alpha val="90000"/>
              <a:hueOff val="-3532455"/>
              <a:satOff val="-5"/>
              <a:lumOff val="105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9268725" y="3002660"/>
        <a:ext cx="259184" cy="354610"/>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0FCB3E-D43E-4982-B614-87D476E54995}" type="datetimeFigureOut">
              <a:rPr lang="en-GB" smtClean="0"/>
              <a:t>27/03/2026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BBAAEE-B164-4014-9051-878A36E7F2F0}" type="slidenum">
              <a:rPr lang="en-GB" smtClean="0"/>
              <a:t>‹#›</a:t>
            </a:fld>
            <a:endParaRPr lang="en-GB"/>
          </a:p>
        </p:txBody>
      </p:sp>
    </p:spTree>
    <p:extLst>
      <p:ext uri="{BB962C8B-B14F-4D97-AF65-F5344CB8AC3E}">
        <p14:creationId xmlns:p14="http://schemas.microsoft.com/office/powerpoint/2010/main" val="24142705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 convolutional neural network processes an image through a series of layers that progressively build up a description of its contents.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core operation is convolution — a small filter slides across the image, computing a weighted sum at each position to detect a particular pattern, like an edge or a texture.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same filter is applied everywhere, so once the network learns to detect something it can find it anywhere in the image.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After each convolution, a </a:t>
            </a:r>
            <a:r>
              <a:rPr lang="en-GB" dirty="0" err="1"/>
              <a:t>ReLU</a:t>
            </a:r>
            <a:r>
              <a:rPr lang="en-GB" dirty="0"/>
              <a:t> activation is applied, which simply sets any negative values to zero — this introduces non-linearity, allowing the network to learn complex patterns that a purely linear operation could not capture.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Pooling then reduces the size of the resulting map by summarising small regions, typically by taking the maximum value, making the representation more compact and robust to small shifts in position.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Stacking many of these layers produces a hierarchy — early layers detect simple things like edges and contrast, while deeper layers combine these into increasingly complex and meaningful structures, eventually representing high-level features like the spatial patterns characteristic of MS lesions on a FLAIR scan.</a:t>
            </a:r>
          </a:p>
          <a:p>
            <a:endParaRPr lang="en-GB" dirty="0"/>
          </a:p>
        </p:txBody>
      </p:sp>
      <p:sp>
        <p:nvSpPr>
          <p:cNvPr id="4" name="Slide Number Placeholder 3"/>
          <p:cNvSpPr>
            <a:spLocks noGrp="1"/>
          </p:cNvSpPr>
          <p:nvPr>
            <p:ph type="sldNum" sz="quarter" idx="5"/>
          </p:nvPr>
        </p:nvSpPr>
        <p:spPr/>
        <p:txBody>
          <a:bodyPr/>
          <a:lstStyle/>
          <a:p>
            <a:fld id="{3BBBAAEE-B164-4014-9051-878A36E7F2F0}" type="slidenum">
              <a:rPr lang="en-GB" smtClean="0"/>
              <a:t>5</a:t>
            </a:fld>
            <a:endParaRPr lang="en-GB"/>
          </a:p>
        </p:txBody>
      </p:sp>
    </p:spTree>
    <p:extLst>
      <p:ext uri="{BB962C8B-B14F-4D97-AF65-F5344CB8AC3E}">
        <p14:creationId xmlns:p14="http://schemas.microsoft.com/office/powerpoint/2010/main" val="16510790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As researchers stacked more and more convolutional layers hoping for better performance, something unexpected happened — accuracy got worse, not better, even on the training data itself.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This ruled out overfitting as the cause; the network was simply failing to learn. The problem was that very deep networks struggled to optimise through so many stacked transformations, and gradients became increasingly weak as they travelled back through the layers during training, leaving early layers barely updating at all.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err="1"/>
              <a:t>ResNets</a:t>
            </a:r>
            <a:r>
              <a:rPr lang="en-GB" dirty="0"/>
              <a:t> solved this with </a:t>
            </a:r>
            <a:r>
              <a:rPr lang="en-GB" b="1" dirty="0"/>
              <a:t>shortcut connection passes the original input directly to the output of the block, where it is added back in</a:t>
            </a:r>
            <a:r>
              <a:rPr lang="en-GB" dirty="0"/>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This means the block only needs to learn what needs to change — a much easier task — and crucially, gradients can flow back directly through the shortcut without having to pass through every layer, keeping training stable at depths that were previously intractable.</a:t>
            </a:r>
          </a:p>
          <a:p>
            <a:endParaRPr lang="en-GB" dirty="0"/>
          </a:p>
        </p:txBody>
      </p:sp>
      <p:sp>
        <p:nvSpPr>
          <p:cNvPr id="4" name="Slide Number Placeholder 3"/>
          <p:cNvSpPr>
            <a:spLocks noGrp="1"/>
          </p:cNvSpPr>
          <p:nvPr>
            <p:ph type="sldNum" sz="quarter" idx="5"/>
          </p:nvPr>
        </p:nvSpPr>
        <p:spPr/>
        <p:txBody>
          <a:bodyPr/>
          <a:lstStyle/>
          <a:p>
            <a:fld id="{3BBBAAEE-B164-4014-9051-878A36E7F2F0}" type="slidenum">
              <a:rPr lang="en-GB" smtClean="0"/>
              <a:t>6</a:t>
            </a:fld>
            <a:endParaRPr lang="en-GB"/>
          </a:p>
        </p:txBody>
      </p:sp>
    </p:spTree>
    <p:extLst>
      <p:ext uri="{BB962C8B-B14F-4D97-AF65-F5344CB8AC3E}">
        <p14:creationId xmlns:p14="http://schemas.microsoft.com/office/powerpoint/2010/main" val="11800823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SE-Net applies channel attention — it looks at all 512 feature channels produced by the final convolutional stage, learns which channels are most informative for the current image, and scales each one up or down accordingly, answering the question of what to focus on. CBAM extends this by adding a spatial attention step after the channel step — once it has decided which channels matter, it then produces a 2D map over the height and width of the feature map, highlighting where in the image the most discriminative regions are, answering where to focus.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SE-Net's channel branch uses only average pooling to summarise each channel, while CBAM's channel branch uses both average and max pooling simultaneously — retaining both the typical response and the peak response of each channel — before combining them to produce the scaling weights; </a:t>
            </a:r>
            <a:r>
              <a:rPr lang="en-GB" dirty="0" err="1"/>
              <a:t>CBAMIsolated</a:t>
            </a:r>
            <a:r>
              <a:rPr lang="en-GB" dirty="0"/>
              <a:t> pairs SE-Net's simpler average-only channel branch with CBAM's spatial branch, meaning the only variable between it and plain SE-Net is the presence of spatial attention, making it the only fully controlled single-variable comparison in the study.</a:t>
            </a:r>
          </a:p>
          <a:p>
            <a:endParaRPr lang="en-GB" dirty="0"/>
          </a:p>
        </p:txBody>
      </p:sp>
      <p:sp>
        <p:nvSpPr>
          <p:cNvPr id="4" name="Slide Number Placeholder 3"/>
          <p:cNvSpPr>
            <a:spLocks noGrp="1"/>
          </p:cNvSpPr>
          <p:nvPr>
            <p:ph type="sldNum" sz="quarter" idx="5"/>
          </p:nvPr>
        </p:nvSpPr>
        <p:spPr/>
        <p:txBody>
          <a:bodyPr/>
          <a:lstStyle/>
          <a:p>
            <a:fld id="{3BBBAAEE-B164-4014-9051-878A36E7F2F0}" type="slidenum">
              <a:rPr lang="en-GB" smtClean="0"/>
              <a:t>7</a:t>
            </a:fld>
            <a:endParaRPr lang="en-GB"/>
          </a:p>
        </p:txBody>
      </p:sp>
    </p:spTree>
    <p:extLst>
      <p:ext uri="{BB962C8B-B14F-4D97-AF65-F5344CB8AC3E}">
        <p14:creationId xmlns:p14="http://schemas.microsoft.com/office/powerpoint/2010/main" val="5090060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a:t>
            </a:r>
            <a:r>
              <a:rPr lang="en-GB" sz="1200" kern="1200" dirty="0" err="1">
                <a:solidFill>
                  <a:schemeClr val="tx1"/>
                </a:solidFill>
                <a:latin typeface="+mn-lt"/>
                <a:ea typeface="+mn-ea"/>
                <a:cs typeface="+mn-cs"/>
              </a:rPr>
              <a:t>CNNMHSAHybrid</a:t>
            </a:r>
            <a:r>
              <a:rPr lang="en-GB" dirty="0"/>
              <a:t> is designed as a deliberate midpoint between CNNs and </a:t>
            </a:r>
            <a:r>
              <a:rPr lang="en-GB" dirty="0" err="1"/>
              <a:t>ViTs</a:t>
            </a:r>
            <a:r>
              <a:rPr lang="en-GB" dirty="0"/>
              <a:t>: a frozen ResNet18 backbone extracts spatial features, which are then flattened into 49 tokens and passed through a single Multi-Head Self-Attention layer — borrowing </a:t>
            </a:r>
            <a:r>
              <a:rPr lang="en-GB" dirty="0" err="1"/>
              <a:t>ViT's</a:t>
            </a:r>
            <a:r>
              <a:rPr lang="en-GB" dirty="0"/>
              <a:t> patch tokenisation and global attention mechanism without adopting its full architecture.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critical difference from CNN attention variants like CBAM and SE is that those operate locally and sequentially (per-channel or per-spatial-position in isolation), whereas MHSA computes joint, content-dependent relationships across all spatial positions simultaneously.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critical difference from a full </a:t>
            </a:r>
            <a:r>
              <a:rPr lang="en-GB" dirty="0" err="1"/>
              <a:t>ViT</a:t>
            </a:r>
            <a:r>
              <a:rPr lang="en-GB" dirty="0"/>
              <a:t> is restraint: rather than stacking 12 transformer blocks on raw image patches, the hybrid adds only a single MHSA layer (~400K parameters) on top of already-rich CNN features, retaining the backbone's inductive biases — local receptive fields, translation equivariance, hierarchical feature building — while adding the one capability CNNs lack: global spatial reasoning.</a:t>
            </a:r>
          </a:p>
          <a:p>
            <a:endParaRPr lang="en-GB" dirty="0"/>
          </a:p>
        </p:txBody>
      </p:sp>
      <p:sp>
        <p:nvSpPr>
          <p:cNvPr id="4" name="Slide Number Placeholder 3"/>
          <p:cNvSpPr>
            <a:spLocks noGrp="1"/>
          </p:cNvSpPr>
          <p:nvPr>
            <p:ph type="sldNum" sz="quarter" idx="5"/>
          </p:nvPr>
        </p:nvSpPr>
        <p:spPr/>
        <p:txBody>
          <a:bodyPr/>
          <a:lstStyle/>
          <a:p>
            <a:fld id="{3BBBAAEE-B164-4014-9051-878A36E7F2F0}" type="slidenum">
              <a:rPr lang="en-GB" smtClean="0"/>
              <a:t>9</a:t>
            </a:fld>
            <a:endParaRPr lang="en-GB"/>
          </a:p>
        </p:txBody>
      </p:sp>
    </p:spTree>
    <p:extLst>
      <p:ext uri="{BB962C8B-B14F-4D97-AF65-F5344CB8AC3E}">
        <p14:creationId xmlns:p14="http://schemas.microsoft.com/office/powerpoint/2010/main" val="39861868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F1 Score</a:t>
            </a:r>
            <a:r>
              <a:rPr lang="en-GB" dirty="0"/>
              <a:t> — the harmonic mean of precision and recall, meaning it penalises both false positives and false negatives equally; used as the primary metric here because the dataset is class-imbalanced, making raw accuracy misleading</a:t>
            </a:r>
          </a:p>
          <a:p>
            <a:r>
              <a:rPr lang="en-GB" b="1" dirty="0"/>
              <a:t>AUC-ROC</a:t>
            </a:r>
            <a:r>
              <a:rPr lang="en-GB" dirty="0"/>
              <a:t> — measures the model's ability to separate MS from non-MS cases across all possible classification thresholds, rather than at a fixed cutoff; a score of 1.0 indicates perfect discrimination, 0.5 indicates chance-level performance</a:t>
            </a:r>
          </a:p>
          <a:p>
            <a:r>
              <a:rPr lang="en-GB" b="1" dirty="0"/>
              <a:t>ECE (Expected Calibration Error)</a:t>
            </a:r>
            <a:r>
              <a:rPr lang="en-GB" dirty="0"/>
              <a:t> — measures whether the model's predicted probabilities are reliable; a well-calibrated model that outputs 90% confidence should be correct approximately 90% of the time — lower ECE indicates better alignment between confidence and actual accuracy</a:t>
            </a:r>
          </a:p>
          <a:p>
            <a:endParaRPr lang="en-GB" dirty="0"/>
          </a:p>
        </p:txBody>
      </p:sp>
      <p:sp>
        <p:nvSpPr>
          <p:cNvPr id="4" name="Slide Number Placeholder 3"/>
          <p:cNvSpPr>
            <a:spLocks noGrp="1"/>
          </p:cNvSpPr>
          <p:nvPr>
            <p:ph type="sldNum" sz="quarter" idx="5"/>
          </p:nvPr>
        </p:nvSpPr>
        <p:spPr/>
        <p:txBody>
          <a:bodyPr/>
          <a:lstStyle/>
          <a:p>
            <a:fld id="{3BBBAAEE-B164-4014-9051-878A36E7F2F0}" type="slidenum">
              <a:rPr lang="en-GB" smtClean="0"/>
              <a:t>11</a:t>
            </a:fld>
            <a:endParaRPr lang="en-GB"/>
          </a:p>
        </p:txBody>
      </p:sp>
    </p:spTree>
    <p:extLst>
      <p:ext uri="{BB962C8B-B14F-4D97-AF65-F5344CB8AC3E}">
        <p14:creationId xmlns:p14="http://schemas.microsoft.com/office/powerpoint/2010/main" val="40628856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Pair A:  base vs </a:t>
            </a:r>
            <a:r>
              <a:rPr lang="en-US" sz="1200" b="1" kern="1200" dirty="0" err="1">
                <a:solidFill>
                  <a:schemeClr val="tx1"/>
                </a:solidFill>
                <a:effectLst/>
                <a:latin typeface="+mn-lt"/>
                <a:ea typeface="+mn-ea"/>
                <a:cs typeface="+mn-cs"/>
              </a:rPr>
              <a:t>se_end</a:t>
            </a:r>
            <a:endParaRPr lang="en-GB" sz="12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does channel attention help?</a:t>
            </a:r>
            <a:endParaRPr lang="en-GB" sz="12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No, </a:t>
            </a:r>
            <a:r>
              <a:rPr lang="el-GR" sz="1200" kern="1200" dirty="0">
                <a:solidFill>
                  <a:schemeClr val="tx1"/>
                </a:solidFill>
                <a:effectLst/>
                <a:latin typeface="+mn-lt"/>
                <a:ea typeface="+mn-ea"/>
                <a:cs typeface="+mn-cs"/>
              </a:rPr>
              <a:t>Δ = −0.0004</a:t>
            </a:r>
            <a:endParaRPr lang="en-GB"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Pair B: </a:t>
            </a:r>
            <a:r>
              <a:rPr lang="en-US" sz="1200" b="1" kern="1200" dirty="0" err="1">
                <a:solidFill>
                  <a:schemeClr val="tx1"/>
                </a:solidFill>
                <a:effectLst/>
                <a:latin typeface="+mn-lt"/>
                <a:ea typeface="+mn-ea"/>
                <a:cs typeface="+mn-cs"/>
              </a:rPr>
              <a:t>se_end</a:t>
            </a:r>
            <a:r>
              <a:rPr lang="en-US" sz="1200" b="1" kern="1200" dirty="0">
                <a:solidFill>
                  <a:schemeClr val="tx1"/>
                </a:solidFill>
                <a:effectLst/>
                <a:latin typeface="+mn-lt"/>
                <a:ea typeface="+mn-ea"/>
                <a:cs typeface="+mn-cs"/>
              </a:rPr>
              <a:t> vs </a:t>
            </a:r>
            <a:r>
              <a:rPr lang="en-US" sz="1200" b="1" kern="1200" dirty="0" err="1">
                <a:solidFill>
                  <a:schemeClr val="tx1"/>
                </a:solidFill>
                <a:effectLst/>
                <a:latin typeface="+mn-lt"/>
                <a:ea typeface="+mn-ea"/>
                <a:cs typeface="+mn-cs"/>
              </a:rPr>
              <a:t>cbam_isolated_end</a:t>
            </a:r>
            <a:endParaRPr lang="en-GB" sz="12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does spatial attention help? </a:t>
            </a:r>
            <a:endParaRPr lang="en-GB" sz="12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Yes, </a:t>
            </a:r>
            <a:r>
              <a:rPr lang="el-GR" sz="1200" kern="1200" dirty="0">
                <a:solidFill>
                  <a:schemeClr val="tx1"/>
                </a:solidFill>
                <a:effectLst/>
                <a:latin typeface="+mn-lt"/>
                <a:ea typeface="+mn-ea"/>
                <a:cs typeface="+mn-cs"/>
              </a:rPr>
              <a:t>Δ = +0.0151</a:t>
            </a:r>
            <a:endParaRPr lang="en-GB"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Pair C: </a:t>
            </a:r>
            <a:r>
              <a:rPr lang="en-US" sz="1200" b="1" kern="1200" dirty="0" err="1">
                <a:solidFill>
                  <a:schemeClr val="tx1"/>
                </a:solidFill>
                <a:effectLst/>
                <a:latin typeface="+mn-lt"/>
                <a:ea typeface="+mn-ea"/>
                <a:cs typeface="+mn-cs"/>
              </a:rPr>
              <a:t>cbam_isolated_end</a:t>
            </a:r>
            <a:r>
              <a:rPr lang="en-US" sz="1200" b="1" kern="1200" dirty="0">
                <a:solidFill>
                  <a:schemeClr val="tx1"/>
                </a:solidFill>
                <a:effectLst/>
                <a:latin typeface="+mn-lt"/>
                <a:ea typeface="+mn-ea"/>
                <a:cs typeface="+mn-cs"/>
              </a:rPr>
              <a:t> vs </a:t>
            </a:r>
            <a:r>
              <a:rPr lang="en-US" sz="1200" b="1" kern="1200" dirty="0" err="1">
                <a:solidFill>
                  <a:schemeClr val="tx1"/>
                </a:solidFill>
                <a:effectLst/>
                <a:latin typeface="+mn-lt"/>
                <a:ea typeface="+mn-ea"/>
                <a:cs typeface="+mn-cs"/>
              </a:rPr>
              <a:t>cbam_end</a:t>
            </a:r>
            <a:endParaRPr lang="en-GB" sz="12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does dual-pool channel beat single-pool? </a:t>
            </a:r>
            <a:endParaRPr lang="en-GB" sz="12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No, </a:t>
            </a:r>
            <a:r>
              <a:rPr lang="el-GR" sz="1200" kern="1200" dirty="0">
                <a:solidFill>
                  <a:schemeClr val="tx1"/>
                </a:solidFill>
                <a:effectLst/>
                <a:latin typeface="+mn-lt"/>
                <a:ea typeface="+mn-ea"/>
                <a:cs typeface="+mn-cs"/>
              </a:rPr>
              <a:t>Δ = −0.0246</a:t>
            </a:r>
            <a:endParaRPr lang="en-GB"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Pair D: </a:t>
            </a:r>
            <a:r>
              <a:rPr lang="en-US" sz="1200" b="1" kern="1200" dirty="0" err="1">
                <a:solidFill>
                  <a:schemeClr val="tx1"/>
                </a:solidFill>
                <a:effectLst/>
                <a:latin typeface="+mn-lt"/>
                <a:ea typeface="+mn-ea"/>
                <a:cs typeface="+mn-cs"/>
              </a:rPr>
              <a:t>se_end</a:t>
            </a:r>
            <a:r>
              <a:rPr lang="en-US" sz="1200" b="1" kern="1200" dirty="0">
                <a:solidFill>
                  <a:schemeClr val="tx1"/>
                </a:solidFill>
                <a:effectLst/>
                <a:latin typeface="+mn-lt"/>
                <a:ea typeface="+mn-ea"/>
                <a:cs typeface="+mn-cs"/>
              </a:rPr>
              <a:t> vs </a:t>
            </a:r>
            <a:r>
              <a:rPr lang="en-US" sz="1200" b="1" kern="1200" dirty="0" err="1">
                <a:solidFill>
                  <a:schemeClr val="tx1"/>
                </a:solidFill>
                <a:effectLst/>
                <a:latin typeface="+mn-lt"/>
                <a:ea typeface="+mn-ea"/>
                <a:cs typeface="+mn-cs"/>
              </a:rPr>
              <a:t>cbam_end</a:t>
            </a:r>
            <a:endParaRPr lang="en-GB" sz="12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SE-Net vs full CBAM?</a:t>
            </a:r>
            <a:endParaRPr lang="en-GB" sz="12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SE wins, </a:t>
            </a:r>
            <a:r>
              <a:rPr lang="el-GR" sz="1200" kern="1200" dirty="0">
                <a:solidFill>
                  <a:schemeClr val="tx1"/>
                </a:solidFill>
                <a:effectLst/>
                <a:latin typeface="+mn-lt"/>
                <a:ea typeface="+mn-ea"/>
                <a:cs typeface="+mn-cs"/>
              </a:rPr>
              <a:t>Δ = +0.0095</a:t>
            </a:r>
            <a:endParaRPr lang="en-GB"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5"/>
          </p:nvPr>
        </p:nvSpPr>
        <p:spPr/>
        <p:txBody>
          <a:bodyPr/>
          <a:lstStyle/>
          <a:p>
            <a:fld id="{3BBBAAEE-B164-4014-9051-878A36E7F2F0}" type="slidenum">
              <a:rPr lang="en-GB" smtClean="0"/>
              <a:t>14</a:t>
            </a:fld>
            <a:endParaRPr lang="en-GB"/>
          </a:p>
        </p:txBody>
      </p:sp>
    </p:spTree>
    <p:extLst>
      <p:ext uri="{BB962C8B-B14F-4D97-AF65-F5344CB8AC3E}">
        <p14:creationId xmlns:p14="http://schemas.microsoft.com/office/powerpoint/2010/main" val="39206205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err="1">
                <a:solidFill>
                  <a:schemeClr val="tx1"/>
                </a:solidFill>
                <a:effectLst/>
                <a:latin typeface="+mn-lt"/>
                <a:ea typeface="+mn-ea"/>
                <a:cs typeface="+mn-cs"/>
              </a:rPr>
              <a:t>NCA+kNN</a:t>
            </a:r>
            <a:r>
              <a:rPr lang="en-US" sz="1200" kern="1200" dirty="0">
                <a:solidFill>
                  <a:schemeClr val="tx1"/>
                </a:solidFill>
                <a:effectLst/>
                <a:latin typeface="+mn-lt"/>
                <a:ea typeface="+mn-ea"/>
                <a:cs typeface="+mn-cs"/>
              </a:rPr>
              <a:t> improves 7/8 backbones on held-out test data </a:t>
            </a:r>
            <a:endParaRPr lang="en-GB"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Largest gains on weakest linear heads — </a:t>
            </a:r>
            <a:r>
              <a:rPr lang="en-US" sz="1200" kern="1200" dirty="0" err="1">
                <a:solidFill>
                  <a:schemeClr val="tx1"/>
                </a:solidFill>
                <a:effectLst/>
                <a:latin typeface="+mn-lt"/>
                <a:ea typeface="+mn-ea"/>
                <a:cs typeface="+mn-cs"/>
              </a:rPr>
              <a:t>cbam_block_pre</a:t>
            </a:r>
            <a:r>
              <a:rPr lang="en-US" sz="1200" kern="1200" dirty="0">
                <a:solidFill>
                  <a:schemeClr val="tx1"/>
                </a:solidFill>
                <a:effectLst/>
                <a:latin typeface="+mn-lt"/>
                <a:ea typeface="+mn-ea"/>
                <a:cs typeface="+mn-cs"/>
              </a:rPr>
              <a:t> Δ = +0.0079, </a:t>
            </a:r>
            <a:r>
              <a:rPr lang="en-US" sz="1200" kern="1200" dirty="0" err="1">
                <a:solidFill>
                  <a:schemeClr val="tx1"/>
                </a:solidFill>
                <a:effectLst/>
                <a:latin typeface="+mn-lt"/>
                <a:ea typeface="+mn-ea"/>
                <a:cs typeface="+mn-cs"/>
              </a:rPr>
              <a:t>se_end</a:t>
            </a:r>
            <a:r>
              <a:rPr lang="en-US" sz="1200" kern="1200" dirty="0">
                <a:solidFill>
                  <a:schemeClr val="tx1"/>
                </a:solidFill>
                <a:effectLst/>
                <a:latin typeface="+mn-lt"/>
                <a:ea typeface="+mn-ea"/>
                <a:cs typeface="+mn-cs"/>
              </a:rPr>
              <a:t> Δ = +0.0232 </a:t>
            </a:r>
            <a:endParaRPr lang="en-GB"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Only exception: </a:t>
            </a:r>
            <a:r>
              <a:rPr lang="en-US" sz="1200" kern="1200" dirty="0" err="1">
                <a:solidFill>
                  <a:schemeClr val="tx1"/>
                </a:solidFill>
                <a:effectLst/>
                <a:latin typeface="+mn-lt"/>
                <a:ea typeface="+mn-ea"/>
                <a:cs typeface="+mn-cs"/>
              </a:rPr>
              <a:t>cbam_block_post</a:t>
            </a:r>
            <a:r>
              <a:rPr lang="en-US" sz="1200" kern="1200" dirty="0">
                <a:solidFill>
                  <a:schemeClr val="tx1"/>
                </a:solidFill>
                <a:effectLst/>
                <a:latin typeface="+mn-lt"/>
                <a:ea typeface="+mn-ea"/>
                <a:cs typeface="+mn-cs"/>
              </a:rPr>
              <a:t> Δ = −0.0127 — already had the strongest linear head, no room to gain </a:t>
            </a:r>
            <a:endParaRPr lang="en-GB"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Best model in the study: </a:t>
            </a:r>
            <a:r>
              <a:rPr lang="en-US" sz="1200" kern="1200" dirty="0" err="1">
                <a:solidFill>
                  <a:schemeClr val="tx1"/>
                </a:solidFill>
                <a:effectLst/>
                <a:latin typeface="+mn-lt"/>
                <a:ea typeface="+mn-ea"/>
                <a:cs typeface="+mn-cs"/>
              </a:rPr>
              <a:t>se_end</a:t>
            </a:r>
            <a:r>
              <a:rPr lang="en-US" sz="1200" kern="1200" dirty="0">
                <a:solidFill>
                  <a:schemeClr val="tx1"/>
                </a:solidFill>
                <a:effectLst/>
                <a:latin typeface="+mn-lt"/>
                <a:ea typeface="+mn-ea"/>
                <a:cs typeface="+mn-cs"/>
              </a:rPr>
              <a:t> + </a:t>
            </a:r>
            <a:r>
              <a:rPr lang="en-US" sz="1200" kern="1200" dirty="0" err="1">
                <a:solidFill>
                  <a:schemeClr val="tx1"/>
                </a:solidFill>
                <a:effectLst/>
                <a:latin typeface="+mn-lt"/>
                <a:ea typeface="+mn-ea"/>
                <a:cs typeface="+mn-cs"/>
              </a:rPr>
              <a:t>NCA+kNN</a:t>
            </a:r>
            <a:r>
              <a:rPr lang="en-US" sz="1200" kern="1200" dirty="0">
                <a:solidFill>
                  <a:schemeClr val="tx1"/>
                </a:solidFill>
                <a:effectLst/>
                <a:latin typeface="+mn-lt"/>
                <a:ea typeface="+mn-ea"/>
                <a:cs typeface="+mn-cs"/>
              </a:rPr>
              <a:t>, F1 = 0.9375 </a:t>
            </a:r>
            <a:endParaRPr lang="en-GB"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5"/>
          </p:nvPr>
        </p:nvSpPr>
        <p:spPr/>
        <p:txBody>
          <a:bodyPr/>
          <a:lstStyle/>
          <a:p>
            <a:fld id="{3BBBAAEE-B164-4014-9051-878A36E7F2F0}" type="slidenum">
              <a:rPr lang="en-GB" smtClean="0"/>
              <a:t>15</a:t>
            </a:fld>
            <a:endParaRPr lang="en-GB"/>
          </a:p>
        </p:txBody>
      </p:sp>
    </p:spTree>
    <p:extLst>
      <p:ext uri="{BB962C8B-B14F-4D97-AF65-F5344CB8AC3E}">
        <p14:creationId xmlns:p14="http://schemas.microsoft.com/office/powerpoint/2010/main" val="28170652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Adding a single MHSA layer on top of the CNN backbone produced </a:t>
            </a:r>
            <a:r>
              <a:rPr lang="en-GB" b="1" dirty="0"/>
              <a:t>virtually no change</a:t>
            </a:r>
            <a:r>
              <a:rPr lang="en-GB" dirty="0"/>
              <a:t> in F1 </a:t>
            </a:r>
          </a:p>
          <a:p>
            <a:endParaRPr lang="en-GB" dirty="0"/>
          </a:p>
          <a:p>
            <a:r>
              <a:rPr lang="en-GB" dirty="0"/>
              <a:t>The hybrid is </a:t>
            </a:r>
            <a:r>
              <a:rPr lang="en-GB" b="1" dirty="0"/>
              <a:t>marginally worse on calibration</a:t>
            </a:r>
            <a:r>
              <a:rPr lang="en-GB" dirty="0"/>
              <a:t> (ECE 0.0547 vs 0.0463), suggesting the attention layer introduces slight overconfidence without a corresponding accuracy benefit</a:t>
            </a:r>
          </a:p>
          <a:p>
            <a:endParaRPr lang="en-GB" dirty="0"/>
          </a:p>
          <a:p>
            <a:r>
              <a:rPr lang="en-GB" dirty="0"/>
              <a:t>The key interpretation is </a:t>
            </a:r>
            <a:r>
              <a:rPr lang="en-GB" b="1" dirty="0"/>
              <a:t>not failure</a:t>
            </a:r>
            <a:r>
              <a:rPr lang="en-GB" dirty="0"/>
              <a:t> — it's that global self-attention over CNN features provides no meaningful advantage at this dataset scale; the CNN backbone had already captured sufficient spatial information</a:t>
            </a:r>
          </a:p>
          <a:p>
            <a:endParaRPr lang="en-GB" dirty="0"/>
          </a:p>
          <a:p>
            <a:r>
              <a:rPr lang="en-GB" dirty="0"/>
              <a:t>This is consistent with the hypothesis that ~1,000 training samples is simply too few for an MHSA layer to learn useful global relationships that the CNN missed, rather than a flaw in the architecture itself</a:t>
            </a:r>
          </a:p>
          <a:p>
            <a:endParaRPr lang="en-GB" dirty="0"/>
          </a:p>
        </p:txBody>
      </p:sp>
      <p:sp>
        <p:nvSpPr>
          <p:cNvPr id="4" name="Slide Number Placeholder 3"/>
          <p:cNvSpPr>
            <a:spLocks noGrp="1"/>
          </p:cNvSpPr>
          <p:nvPr>
            <p:ph type="sldNum" sz="quarter" idx="5"/>
          </p:nvPr>
        </p:nvSpPr>
        <p:spPr/>
        <p:txBody>
          <a:bodyPr/>
          <a:lstStyle/>
          <a:p>
            <a:fld id="{3BBBAAEE-B164-4014-9051-878A36E7F2F0}" type="slidenum">
              <a:rPr lang="en-GB" smtClean="0"/>
              <a:t>16</a:t>
            </a:fld>
            <a:endParaRPr lang="en-GB"/>
          </a:p>
        </p:txBody>
      </p:sp>
    </p:spTree>
    <p:extLst>
      <p:ext uri="{BB962C8B-B14F-4D97-AF65-F5344CB8AC3E}">
        <p14:creationId xmlns:p14="http://schemas.microsoft.com/office/powerpoint/2010/main" val="18045919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err="1"/>
              <a:t>EfficientFormer</a:t>
            </a:r>
            <a:r>
              <a:rPr lang="en-GB" dirty="0"/>
              <a:t> used the </a:t>
            </a:r>
            <a:r>
              <a:rPr lang="en-GB" b="1" dirty="0"/>
              <a:t>exact same training protocol</a:t>
            </a:r>
            <a:r>
              <a:rPr lang="en-GB" dirty="0"/>
              <a:t> as the CNNs — same hyperparameters, same folds, no </a:t>
            </a:r>
            <a:r>
              <a:rPr lang="en-GB" dirty="0" err="1"/>
              <a:t>ViT</a:t>
            </a:r>
            <a:r>
              <a:rPr lang="en-GB" dirty="0"/>
              <a:t>-specific tuning — making this a fair architectural comparison</a:t>
            </a:r>
          </a:p>
          <a:p>
            <a:endParaRPr lang="en-GB" dirty="0"/>
          </a:p>
          <a:p>
            <a:r>
              <a:rPr lang="en-GB" dirty="0"/>
              <a:t>Despite that, it delivered </a:t>
            </a:r>
            <a:r>
              <a:rPr lang="en-GB" b="1" dirty="0"/>
              <a:t>competitive results</a:t>
            </a:r>
            <a:r>
              <a:rPr lang="en-GB" dirty="0"/>
              <a:t>: F1 0.9350 vs 0.9407, AUC-ROC 0.9864 vs 0.9883 — a gap of under 1% across the board</a:t>
            </a:r>
          </a:p>
          <a:p>
            <a:endParaRPr lang="en-GB" dirty="0"/>
          </a:p>
          <a:p>
            <a:r>
              <a:rPr lang="en-GB" dirty="0"/>
              <a:t>The only more notable difference is </a:t>
            </a:r>
            <a:r>
              <a:rPr lang="en-GB" b="1" dirty="0"/>
              <a:t>calibration</a:t>
            </a:r>
            <a:r>
              <a:rPr lang="en-GB" dirty="0"/>
              <a:t> (ECE 0.0474 vs 0.0369), meaning </a:t>
            </a:r>
            <a:r>
              <a:rPr lang="en-GB" sz="1200" kern="1200" dirty="0" err="1">
                <a:solidFill>
                  <a:schemeClr val="tx1"/>
                </a:solidFill>
                <a:latin typeface="+mn-lt"/>
                <a:ea typeface="+mn-ea"/>
                <a:cs typeface="+mn-cs"/>
              </a:rPr>
              <a:t>cbam_block_post</a:t>
            </a:r>
            <a:r>
              <a:rPr lang="en-GB" dirty="0"/>
              <a:t> is slightly more confident and correct at the same time</a:t>
            </a:r>
          </a:p>
          <a:p>
            <a:r>
              <a:rPr lang="en-GB" sz="1200" kern="1200" dirty="0" err="1">
                <a:solidFill>
                  <a:schemeClr val="tx1"/>
                </a:solidFill>
                <a:latin typeface="+mn-lt"/>
                <a:ea typeface="+mn-ea"/>
                <a:cs typeface="+mn-cs"/>
              </a:rPr>
              <a:t>cbam_block_post</a:t>
            </a:r>
            <a:r>
              <a:rPr lang="en-GB" dirty="0"/>
              <a:t> still edges it out, which is expected — CNNs have </a:t>
            </a:r>
            <a:r>
              <a:rPr lang="en-GB" b="1" dirty="0"/>
              <a:t>inductive biases suited to images</a:t>
            </a:r>
            <a:r>
              <a:rPr lang="en-GB" dirty="0"/>
              <a:t> (locality, translation equivariance) that tend to help in small datasets</a:t>
            </a:r>
          </a:p>
          <a:p>
            <a:endParaRPr lang="en-GB" dirty="0"/>
          </a:p>
          <a:p>
            <a:r>
              <a:rPr lang="en-GB" dirty="0"/>
              <a:t>But the key takeaway is that a fundamentally different architecture — </a:t>
            </a:r>
            <a:r>
              <a:rPr lang="en-GB" b="1" dirty="0"/>
              <a:t>global token attention vs local convolutions</a:t>
            </a:r>
            <a:r>
              <a:rPr lang="en-GB" dirty="0"/>
              <a:t> — essentially matched the CNN with no extra tuning effort</a:t>
            </a:r>
          </a:p>
          <a:p>
            <a:endParaRPr lang="en-GB" dirty="0"/>
          </a:p>
          <a:p>
            <a:r>
              <a:rPr lang="en-GB" dirty="0"/>
              <a:t>This suggests strong </a:t>
            </a:r>
            <a:r>
              <a:rPr lang="en-GB" b="1" dirty="0"/>
              <a:t>pretrained representations in </a:t>
            </a:r>
            <a:r>
              <a:rPr lang="en-GB" b="1" dirty="0" err="1"/>
              <a:t>EfficientFormer</a:t>
            </a:r>
            <a:r>
              <a:rPr lang="en-GB" dirty="0"/>
              <a:t> are doing a lot of the heavy lifting, compensating for the lack of image-specific inductive biases</a:t>
            </a:r>
          </a:p>
          <a:p>
            <a:endParaRPr lang="en-GB" dirty="0"/>
          </a:p>
        </p:txBody>
      </p:sp>
      <p:sp>
        <p:nvSpPr>
          <p:cNvPr id="4" name="Slide Number Placeholder 3"/>
          <p:cNvSpPr>
            <a:spLocks noGrp="1"/>
          </p:cNvSpPr>
          <p:nvPr>
            <p:ph type="sldNum" sz="quarter" idx="5"/>
          </p:nvPr>
        </p:nvSpPr>
        <p:spPr/>
        <p:txBody>
          <a:bodyPr/>
          <a:lstStyle/>
          <a:p>
            <a:fld id="{3BBBAAEE-B164-4014-9051-878A36E7F2F0}" type="slidenum">
              <a:rPr lang="en-GB" smtClean="0"/>
              <a:t>17</a:t>
            </a:fld>
            <a:endParaRPr lang="en-GB"/>
          </a:p>
        </p:txBody>
      </p:sp>
    </p:spTree>
    <p:extLst>
      <p:ext uri="{BB962C8B-B14F-4D97-AF65-F5344CB8AC3E}">
        <p14:creationId xmlns:p14="http://schemas.microsoft.com/office/powerpoint/2010/main" val="1808740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48D7368D-31D9-8101-473D-CD39E706FD22}"/>
              </a:ext>
              <a:ext uri="{C183D7F6-B498-43B3-948B-1728B52AA6E4}">
                <adec:decorative xmlns:adec="http://schemas.microsoft.com/office/drawing/2017/decorative" val="1"/>
              </a:ext>
            </a:extLst>
          </p:cNvPr>
          <p:cNvSpPr/>
          <p:nvPr/>
        </p:nvSpPr>
        <p:spPr>
          <a:xfrm>
            <a:off x="5796401" y="3378954"/>
            <a:ext cx="6394567" cy="3479046"/>
          </a:xfrm>
          <a:custGeom>
            <a:avLst/>
            <a:gdLst>
              <a:gd name="connsiteX0" fmla="*/ 5171297 w 6394567"/>
              <a:gd name="connsiteY0" fmla="*/ 284 h 3479046"/>
              <a:gd name="connsiteX1" fmla="*/ 6394290 w 6394567"/>
              <a:gd name="connsiteY1" fmla="*/ 430072 h 3479046"/>
              <a:gd name="connsiteX2" fmla="*/ 6394567 w 6394567"/>
              <a:gd name="connsiteY2" fmla="*/ 430316 h 3479046"/>
              <a:gd name="connsiteX3" fmla="*/ 6394567 w 6394567"/>
              <a:gd name="connsiteY3" fmla="*/ 3479046 h 3479046"/>
              <a:gd name="connsiteX4" fmla="*/ 0 w 6394567"/>
              <a:gd name="connsiteY4" fmla="*/ 3479046 h 3479046"/>
              <a:gd name="connsiteX5" fmla="*/ 3916974 w 6394567"/>
              <a:gd name="connsiteY5" fmla="*/ 405504 h 3479046"/>
              <a:gd name="connsiteX6" fmla="*/ 3959456 w 6394567"/>
              <a:gd name="connsiteY6" fmla="*/ 373857 h 3479046"/>
              <a:gd name="connsiteX7" fmla="*/ 5052215 w 6394567"/>
              <a:gd name="connsiteY7" fmla="*/ 1756 h 3479046"/>
              <a:gd name="connsiteX8" fmla="*/ 5171297 w 6394567"/>
              <a:gd name="connsiteY8" fmla="*/ 284 h 3479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94567" h="3479046">
                <a:moveTo>
                  <a:pt x="5171297" y="284"/>
                </a:moveTo>
                <a:cubicBezTo>
                  <a:pt x="5607674" y="7531"/>
                  <a:pt x="6039042" y="153650"/>
                  <a:pt x="6394290" y="430072"/>
                </a:cubicBezTo>
                <a:lnTo>
                  <a:pt x="6394567" y="430316"/>
                </a:lnTo>
                <a:lnTo>
                  <a:pt x="6394567" y="3479046"/>
                </a:lnTo>
                <a:lnTo>
                  <a:pt x="0" y="3479046"/>
                </a:lnTo>
                <a:lnTo>
                  <a:pt x="3916974" y="405504"/>
                </a:lnTo>
                <a:lnTo>
                  <a:pt x="3959456" y="373857"/>
                </a:lnTo>
                <a:cubicBezTo>
                  <a:pt x="4291086" y="139664"/>
                  <a:pt x="4671097" y="17528"/>
                  <a:pt x="5052215" y="1756"/>
                </a:cubicBezTo>
                <a:cubicBezTo>
                  <a:pt x="5091916" y="114"/>
                  <a:pt x="5131627" y="-375"/>
                  <a:pt x="5171297" y="284"/>
                </a:cubicBezTo>
                <a:close/>
              </a:path>
            </a:pathLst>
          </a:custGeom>
          <a:gradFill>
            <a:gsLst>
              <a:gs pos="39000">
                <a:schemeClr val="bg2"/>
              </a:gs>
              <a:gs pos="100000">
                <a:schemeClr val="accent1">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9FF32C74-82F4-2A29-889B-EF23CEE6AA4F}"/>
              </a:ext>
            </a:extLst>
          </p:cNvPr>
          <p:cNvSpPr>
            <a:spLocks noGrp="1"/>
          </p:cNvSpPr>
          <p:nvPr>
            <p:ph type="ctrTitle"/>
          </p:nvPr>
        </p:nvSpPr>
        <p:spPr>
          <a:xfrm>
            <a:off x="1066801" y="1122363"/>
            <a:ext cx="6211185" cy="2305246"/>
          </a:xfrm>
        </p:spPr>
        <p:txBody>
          <a:bodyPr anchor="b">
            <a:normAutofit/>
          </a:bodyPr>
          <a:lstStyle>
            <a:lvl1pPr algn="l">
              <a:lnSpc>
                <a:spcPct val="100000"/>
              </a:lnSpc>
              <a:defRPr sz="3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4ACADD6-278F-604C-8A38-BBBAFC6754E8}"/>
              </a:ext>
            </a:extLst>
          </p:cNvPr>
          <p:cNvSpPr>
            <a:spLocks noGrp="1"/>
          </p:cNvSpPr>
          <p:nvPr>
            <p:ph type="subTitle" idx="1"/>
          </p:nvPr>
        </p:nvSpPr>
        <p:spPr>
          <a:xfrm>
            <a:off x="1066802" y="3549048"/>
            <a:ext cx="5029198" cy="1956278"/>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DC43946B-3F5A-C916-B62B-8D5938EA8285}"/>
              </a:ext>
            </a:extLst>
          </p:cNvPr>
          <p:cNvSpPr>
            <a:spLocks noGrp="1"/>
          </p:cNvSpPr>
          <p:nvPr>
            <p:ph type="dt" sz="half" idx="10"/>
          </p:nvPr>
        </p:nvSpPr>
        <p:spPr/>
        <p:txBody>
          <a:bodyPr/>
          <a:lstStyle/>
          <a:p>
            <a:fld id="{1E351CED-465B-40B5-ADCE-957C918F227B}" type="datetimeFigureOut">
              <a:rPr lang="en-US" smtClean="0"/>
              <a:t>3/27/2026</a:t>
            </a:fld>
            <a:endParaRPr lang="en-US"/>
          </a:p>
        </p:txBody>
      </p:sp>
      <p:sp>
        <p:nvSpPr>
          <p:cNvPr id="5" name="Footer Placeholder 4">
            <a:extLst>
              <a:ext uri="{FF2B5EF4-FFF2-40B4-BE49-F238E27FC236}">
                <a16:creationId xmlns:a16="http://schemas.microsoft.com/office/drawing/2014/main" id="{5986539F-2DB8-FCDA-C884-9C3CD29B8C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DAA7B3-5D3B-D493-8F6F-1FEBB8576D62}"/>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21025644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A4769-9A55-AF9B-4CE4-DFA07E711CF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CE45D9E-DBB4-B890-88D5-B4C03599EC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AE15260-1C0B-A965-3114-D7C40D18BDF4}"/>
              </a:ext>
            </a:extLst>
          </p:cNvPr>
          <p:cNvSpPr>
            <a:spLocks noGrp="1"/>
          </p:cNvSpPr>
          <p:nvPr>
            <p:ph type="dt" sz="half" idx="10"/>
          </p:nvPr>
        </p:nvSpPr>
        <p:spPr/>
        <p:txBody>
          <a:bodyPr/>
          <a:lstStyle/>
          <a:p>
            <a:fld id="{1E351CED-465B-40B5-ADCE-957C918F227B}" type="datetimeFigureOut">
              <a:rPr lang="en-US" smtClean="0"/>
              <a:t>3/27/2026</a:t>
            </a:fld>
            <a:endParaRPr lang="en-US"/>
          </a:p>
        </p:txBody>
      </p:sp>
      <p:sp>
        <p:nvSpPr>
          <p:cNvPr id="5" name="Footer Placeholder 4">
            <a:extLst>
              <a:ext uri="{FF2B5EF4-FFF2-40B4-BE49-F238E27FC236}">
                <a16:creationId xmlns:a16="http://schemas.microsoft.com/office/drawing/2014/main" id="{19AAF4D1-0334-3F24-69B4-06C7BD7426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8BA76D-3B8B-429D-9B32-54D6A6297C0A}"/>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13399910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D8D9C414-4A2F-78AF-ED60-6130D4C563B3}"/>
              </a:ext>
            </a:extLst>
          </p:cNvPr>
          <p:cNvSpPr/>
          <p:nvPr/>
        </p:nvSpPr>
        <p:spPr>
          <a:xfrm>
            <a:off x="6284115" y="3378954"/>
            <a:ext cx="5907885" cy="3479046"/>
          </a:xfrm>
          <a:custGeom>
            <a:avLst/>
            <a:gdLst>
              <a:gd name="connsiteX0" fmla="*/ 5171297 w 5907885"/>
              <a:gd name="connsiteY0" fmla="*/ 284 h 3479046"/>
              <a:gd name="connsiteX1" fmla="*/ 5813217 w 5907885"/>
              <a:gd name="connsiteY1" fmla="*/ 114238 h 3479046"/>
              <a:gd name="connsiteX2" fmla="*/ 5907885 w 5907885"/>
              <a:gd name="connsiteY2" fmla="*/ 151524 h 3479046"/>
              <a:gd name="connsiteX3" fmla="*/ 5907885 w 5907885"/>
              <a:gd name="connsiteY3" fmla="*/ 3479046 h 3479046"/>
              <a:gd name="connsiteX4" fmla="*/ 0 w 5907885"/>
              <a:gd name="connsiteY4" fmla="*/ 3479046 h 3479046"/>
              <a:gd name="connsiteX5" fmla="*/ 3916974 w 5907885"/>
              <a:gd name="connsiteY5" fmla="*/ 405504 h 3479046"/>
              <a:gd name="connsiteX6" fmla="*/ 3959456 w 5907885"/>
              <a:gd name="connsiteY6" fmla="*/ 373857 h 3479046"/>
              <a:gd name="connsiteX7" fmla="*/ 5052215 w 5907885"/>
              <a:gd name="connsiteY7" fmla="*/ 1756 h 3479046"/>
              <a:gd name="connsiteX8" fmla="*/ 5171297 w 5907885"/>
              <a:gd name="connsiteY8" fmla="*/ 284 h 3479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07885" h="3479046">
                <a:moveTo>
                  <a:pt x="5171297" y="284"/>
                </a:moveTo>
                <a:cubicBezTo>
                  <a:pt x="5389485" y="3908"/>
                  <a:pt x="5606422" y="42249"/>
                  <a:pt x="5813217" y="114238"/>
                </a:cubicBezTo>
                <a:lnTo>
                  <a:pt x="5907885" y="151524"/>
                </a:lnTo>
                <a:lnTo>
                  <a:pt x="5907885" y="3479046"/>
                </a:lnTo>
                <a:lnTo>
                  <a:pt x="0" y="3479046"/>
                </a:lnTo>
                <a:lnTo>
                  <a:pt x="3916974" y="405504"/>
                </a:lnTo>
                <a:lnTo>
                  <a:pt x="3959456" y="373857"/>
                </a:lnTo>
                <a:cubicBezTo>
                  <a:pt x="4291086" y="139664"/>
                  <a:pt x="4671097" y="17528"/>
                  <a:pt x="5052215" y="1756"/>
                </a:cubicBezTo>
                <a:cubicBezTo>
                  <a:pt x="5091916" y="114"/>
                  <a:pt x="5131627" y="-375"/>
                  <a:pt x="5171297" y="284"/>
                </a:cubicBezTo>
                <a:close/>
              </a:path>
            </a:pathLst>
          </a:custGeom>
          <a:gradFill>
            <a:gsLst>
              <a:gs pos="23000">
                <a:schemeClr val="bg2"/>
              </a:gs>
              <a:gs pos="100000">
                <a:schemeClr val="accent1">
                  <a:lumMod val="60000"/>
                  <a:lumOff val="4000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13410AE4-7FC7-589E-B6D3-0DA7B5FC5CE3}"/>
              </a:ext>
            </a:extLst>
          </p:cNvPr>
          <p:cNvSpPr/>
          <p:nvPr/>
        </p:nvSpPr>
        <p:spPr>
          <a:xfrm flipH="1" flipV="1">
            <a:off x="0" y="0"/>
            <a:ext cx="2923855" cy="1479128"/>
          </a:xfrm>
          <a:custGeom>
            <a:avLst/>
            <a:gdLst>
              <a:gd name="connsiteX0" fmla="*/ 2923855 w 2923855"/>
              <a:gd name="connsiteY0" fmla="*/ 1479128 h 1479128"/>
              <a:gd name="connsiteX1" fmla="*/ 0 w 2923855"/>
              <a:gd name="connsiteY1" fmla="*/ 1479128 h 1479128"/>
              <a:gd name="connsiteX2" fmla="*/ 1368245 w 2923855"/>
              <a:gd name="connsiteY2" fmla="*/ 405504 h 1479128"/>
              <a:gd name="connsiteX3" fmla="*/ 1410727 w 2923855"/>
              <a:gd name="connsiteY3" fmla="*/ 373857 h 1479128"/>
              <a:gd name="connsiteX4" fmla="*/ 2503486 w 2923855"/>
              <a:gd name="connsiteY4" fmla="*/ 1756 h 1479128"/>
              <a:gd name="connsiteX5" fmla="*/ 2622568 w 2923855"/>
              <a:gd name="connsiteY5" fmla="*/ 284 h 1479128"/>
              <a:gd name="connsiteX6" fmla="*/ 2785835 w 2923855"/>
              <a:gd name="connsiteY6" fmla="*/ 9494 h 1479128"/>
              <a:gd name="connsiteX7" fmla="*/ 2923855 w 2923855"/>
              <a:gd name="connsiteY7" fmla="*/ 28352 h 1479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23855" h="1479128">
                <a:moveTo>
                  <a:pt x="2923855" y="1479128"/>
                </a:moveTo>
                <a:lnTo>
                  <a:pt x="0" y="1479128"/>
                </a:lnTo>
                <a:lnTo>
                  <a:pt x="1368245" y="405504"/>
                </a:lnTo>
                <a:lnTo>
                  <a:pt x="1410727" y="373857"/>
                </a:lnTo>
                <a:cubicBezTo>
                  <a:pt x="1742357" y="139664"/>
                  <a:pt x="2122368" y="17528"/>
                  <a:pt x="2503486" y="1756"/>
                </a:cubicBezTo>
                <a:cubicBezTo>
                  <a:pt x="2543187" y="114"/>
                  <a:pt x="2582898" y="-375"/>
                  <a:pt x="2622568" y="284"/>
                </a:cubicBezTo>
                <a:cubicBezTo>
                  <a:pt x="2677115" y="1190"/>
                  <a:pt x="2731584" y="4266"/>
                  <a:pt x="2785835" y="9494"/>
                </a:cubicBezTo>
                <a:lnTo>
                  <a:pt x="2923855" y="28352"/>
                </a:lnTo>
                <a:close/>
              </a:path>
            </a:pathLst>
          </a:custGeom>
          <a:gradFill>
            <a:gsLst>
              <a:gs pos="33000">
                <a:schemeClr val="bg2"/>
              </a:gs>
              <a:gs pos="100000">
                <a:schemeClr val="accent1">
                  <a:lumMod val="60000"/>
                  <a:lumOff val="4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B381CBD-08D9-3C9A-7620-24F2D6404893}"/>
              </a:ext>
            </a:extLst>
          </p:cNvPr>
          <p:cNvSpPr>
            <a:spLocks noGrp="1"/>
          </p:cNvSpPr>
          <p:nvPr>
            <p:ph type="title"/>
          </p:nvPr>
        </p:nvSpPr>
        <p:spPr>
          <a:xfrm>
            <a:off x="1066800" y="1709738"/>
            <a:ext cx="6455434" cy="2981274"/>
          </a:xfrm>
        </p:spPr>
        <p:txBody>
          <a:bodyPr anchor="b">
            <a:norm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D5AE2B-1716-CEEC-73F8-E81F59192562}"/>
              </a:ext>
            </a:extLst>
          </p:cNvPr>
          <p:cNvSpPr>
            <a:spLocks noGrp="1"/>
          </p:cNvSpPr>
          <p:nvPr>
            <p:ph type="body" idx="1"/>
          </p:nvPr>
        </p:nvSpPr>
        <p:spPr>
          <a:xfrm>
            <a:off x="1066800" y="4759252"/>
            <a:ext cx="5397260" cy="955748"/>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5CF3052-6EE8-979F-04FB-1B8DF81F29B9}"/>
              </a:ext>
            </a:extLst>
          </p:cNvPr>
          <p:cNvSpPr>
            <a:spLocks noGrp="1"/>
          </p:cNvSpPr>
          <p:nvPr>
            <p:ph type="dt" sz="half" idx="10"/>
          </p:nvPr>
        </p:nvSpPr>
        <p:spPr/>
        <p:txBody>
          <a:bodyPr/>
          <a:lstStyle/>
          <a:p>
            <a:fld id="{1E351CED-465B-40B5-ADCE-957C918F227B}" type="datetimeFigureOut">
              <a:rPr lang="en-US" smtClean="0"/>
              <a:t>3/27/2026</a:t>
            </a:fld>
            <a:endParaRPr lang="en-US"/>
          </a:p>
        </p:txBody>
      </p:sp>
      <p:sp>
        <p:nvSpPr>
          <p:cNvPr id="5" name="Footer Placeholder 4">
            <a:extLst>
              <a:ext uri="{FF2B5EF4-FFF2-40B4-BE49-F238E27FC236}">
                <a16:creationId xmlns:a16="http://schemas.microsoft.com/office/drawing/2014/main" id="{7D986285-161A-6869-27C2-0A159C2344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7ED64F-5DAB-238D-C34A-1DCCB12221DD}"/>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2488789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484D0-7460-7B08-F1EE-96EABE40212A}"/>
              </a:ext>
            </a:extLst>
          </p:cNvPr>
          <p:cNvSpPr>
            <a:spLocks noGrp="1"/>
          </p:cNvSpPr>
          <p:nvPr>
            <p:ph type="title"/>
          </p:nvPr>
        </p:nvSpPr>
        <p:spPr>
          <a:xfrm>
            <a:off x="1066799" y="936841"/>
            <a:ext cx="10092477" cy="953669"/>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80B7F9-8ECB-7079-A11E-51D3903E2B1A}"/>
              </a:ext>
            </a:extLst>
          </p:cNvPr>
          <p:cNvSpPr>
            <a:spLocks noGrp="1"/>
          </p:cNvSpPr>
          <p:nvPr>
            <p:ph sz="half" idx="1"/>
          </p:nvPr>
        </p:nvSpPr>
        <p:spPr>
          <a:xfrm>
            <a:off x="1066800" y="2117341"/>
            <a:ext cx="4809482" cy="37601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E4E97161-CAF5-CA48-D814-7ACD43AB99E1}"/>
              </a:ext>
            </a:extLst>
          </p:cNvPr>
          <p:cNvSpPr>
            <a:spLocks noGrp="1"/>
          </p:cNvSpPr>
          <p:nvPr>
            <p:ph sz="half" idx="2"/>
          </p:nvPr>
        </p:nvSpPr>
        <p:spPr>
          <a:xfrm>
            <a:off x="6349795" y="2117341"/>
            <a:ext cx="4809482" cy="37601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623BD680-4E7A-5155-3CAE-6BD44EE8BA83}"/>
              </a:ext>
            </a:extLst>
          </p:cNvPr>
          <p:cNvSpPr>
            <a:spLocks noGrp="1"/>
          </p:cNvSpPr>
          <p:nvPr>
            <p:ph type="dt" sz="half" idx="10"/>
          </p:nvPr>
        </p:nvSpPr>
        <p:spPr/>
        <p:txBody>
          <a:bodyPr/>
          <a:lstStyle/>
          <a:p>
            <a:fld id="{1E351CED-465B-40B5-ADCE-957C918F227B}" type="datetimeFigureOut">
              <a:rPr lang="en-US" smtClean="0"/>
              <a:t>3/27/2026</a:t>
            </a:fld>
            <a:endParaRPr lang="en-US"/>
          </a:p>
        </p:txBody>
      </p:sp>
      <p:sp>
        <p:nvSpPr>
          <p:cNvPr id="6" name="Footer Placeholder 5">
            <a:extLst>
              <a:ext uri="{FF2B5EF4-FFF2-40B4-BE49-F238E27FC236}">
                <a16:creationId xmlns:a16="http://schemas.microsoft.com/office/drawing/2014/main" id="{4F6A152D-EFF2-B3AA-3F25-14E1136734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BD6032-FD7A-BFFD-9BE5-48EDBEFBD147}"/>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30374163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47F4D-4855-340E-03F3-4860885EC671}"/>
              </a:ext>
            </a:extLst>
          </p:cNvPr>
          <p:cNvSpPr>
            <a:spLocks noGrp="1"/>
          </p:cNvSpPr>
          <p:nvPr>
            <p:ph type="title"/>
          </p:nvPr>
        </p:nvSpPr>
        <p:spPr>
          <a:xfrm>
            <a:off x="1066800" y="963283"/>
            <a:ext cx="10096500" cy="916004"/>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3CEB472-7426-C288-B5F6-0A1232DCED65}"/>
              </a:ext>
            </a:extLst>
          </p:cNvPr>
          <p:cNvSpPr>
            <a:spLocks noGrp="1"/>
          </p:cNvSpPr>
          <p:nvPr>
            <p:ph type="body" idx="1"/>
          </p:nvPr>
        </p:nvSpPr>
        <p:spPr>
          <a:xfrm>
            <a:off x="1066801" y="1879287"/>
            <a:ext cx="4739628" cy="582117"/>
          </a:xfrm>
        </p:spPr>
        <p:txBody>
          <a:bodyPr anchor="b">
            <a:noAutofit/>
          </a:bodyPr>
          <a:lstStyle>
            <a:lvl1pPr marL="0" indent="0">
              <a:buNone/>
              <a:defRPr sz="1400" b="1" cap="all" spc="25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3194F9C-B6FA-97C3-F618-0CF956CB53B2}"/>
              </a:ext>
            </a:extLst>
          </p:cNvPr>
          <p:cNvSpPr>
            <a:spLocks noGrp="1"/>
          </p:cNvSpPr>
          <p:nvPr>
            <p:ph sz="half" idx="2"/>
          </p:nvPr>
        </p:nvSpPr>
        <p:spPr>
          <a:xfrm>
            <a:off x="1066801" y="2505075"/>
            <a:ext cx="4739628" cy="33896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8F5665C-7910-AFA2-350F-42C06ED5AF47}"/>
              </a:ext>
            </a:extLst>
          </p:cNvPr>
          <p:cNvSpPr>
            <a:spLocks noGrp="1"/>
          </p:cNvSpPr>
          <p:nvPr>
            <p:ph type="body" sz="quarter" idx="3"/>
          </p:nvPr>
        </p:nvSpPr>
        <p:spPr>
          <a:xfrm>
            <a:off x="6400330" y="1879287"/>
            <a:ext cx="4762970" cy="582117"/>
          </a:xfrm>
        </p:spPr>
        <p:txBody>
          <a:bodyPr anchor="b">
            <a:noAutofit/>
          </a:bodyPr>
          <a:lstStyle>
            <a:lvl1pPr marL="0" indent="0">
              <a:buNone/>
              <a:defRPr sz="1400" b="1" cap="all" spc="25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D71352E-1DE0-F0CD-6F81-1D8FF59C2B0D}"/>
              </a:ext>
            </a:extLst>
          </p:cNvPr>
          <p:cNvSpPr>
            <a:spLocks noGrp="1"/>
          </p:cNvSpPr>
          <p:nvPr>
            <p:ph sz="quarter" idx="4"/>
          </p:nvPr>
        </p:nvSpPr>
        <p:spPr>
          <a:xfrm>
            <a:off x="6400330" y="2505075"/>
            <a:ext cx="4762970" cy="33896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D38F7E4-7D9E-4736-3269-4F0C46996125}"/>
              </a:ext>
            </a:extLst>
          </p:cNvPr>
          <p:cNvSpPr>
            <a:spLocks noGrp="1"/>
          </p:cNvSpPr>
          <p:nvPr>
            <p:ph type="dt" sz="half" idx="10"/>
          </p:nvPr>
        </p:nvSpPr>
        <p:spPr/>
        <p:txBody>
          <a:bodyPr/>
          <a:lstStyle/>
          <a:p>
            <a:fld id="{1E351CED-465B-40B5-ADCE-957C918F227B}" type="datetimeFigureOut">
              <a:rPr lang="en-US" smtClean="0"/>
              <a:t>3/27/2026</a:t>
            </a:fld>
            <a:endParaRPr lang="en-US"/>
          </a:p>
        </p:txBody>
      </p:sp>
      <p:sp>
        <p:nvSpPr>
          <p:cNvPr id="8" name="Footer Placeholder 7">
            <a:extLst>
              <a:ext uri="{FF2B5EF4-FFF2-40B4-BE49-F238E27FC236}">
                <a16:creationId xmlns:a16="http://schemas.microsoft.com/office/drawing/2014/main" id="{218386CF-9A84-8D2A-BC47-C951DD99492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980844D-FE1F-49E7-3BBD-527FB72ECD1D}"/>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34084904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F691C-93A5-1364-00A9-A470C289F365}"/>
              </a:ext>
            </a:extLst>
          </p:cNvPr>
          <p:cNvSpPr>
            <a:spLocks noGrp="1"/>
          </p:cNvSpPr>
          <p:nvPr>
            <p:ph type="title"/>
          </p:nvPr>
        </p:nvSpPr>
        <p:spPr>
          <a:xfrm>
            <a:off x="1066800" y="1357223"/>
            <a:ext cx="8886884" cy="1043078"/>
          </a:xfrm>
        </p:spPr>
        <p:txBody>
          <a:bodyPr anchor="t"/>
          <a:lstStyle/>
          <a:p>
            <a:r>
              <a:rPr lang="en-US"/>
              <a:t>Click to edit Master title style</a:t>
            </a:r>
            <a:endParaRPr lang="en-US" dirty="0"/>
          </a:p>
        </p:txBody>
      </p:sp>
      <p:sp>
        <p:nvSpPr>
          <p:cNvPr id="3" name="Date Placeholder 2">
            <a:extLst>
              <a:ext uri="{FF2B5EF4-FFF2-40B4-BE49-F238E27FC236}">
                <a16:creationId xmlns:a16="http://schemas.microsoft.com/office/drawing/2014/main" id="{76E055BD-4154-B9D1-0B5B-B1E3A06B6B31}"/>
              </a:ext>
            </a:extLst>
          </p:cNvPr>
          <p:cNvSpPr>
            <a:spLocks noGrp="1"/>
          </p:cNvSpPr>
          <p:nvPr>
            <p:ph type="dt" sz="half" idx="10"/>
          </p:nvPr>
        </p:nvSpPr>
        <p:spPr/>
        <p:txBody>
          <a:bodyPr/>
          <a:lstStyle/>
          <a:p>
            <a:fld id="{1E351CED-465B-40B5-ADCE-957C918F227B}" type="datetimeFigureOut">
              <a:rPr lang="en-US" smtClean="0"/>
              <a:t>3/27/2026</a:t>
            </a:fld>
            <a:endParaRPr lang="en-US"/>
          </a:p>
        </p:txBody>
      </p:sp>
      <p:sp>
        <p:nvSpPr>
          <p:cNvPr id="4" name="Footer Placeholder 3">
            <a:extLst>
              <a:ext uri="{FF2B5EF4-FFF2-40B4-BE49-F238E27FC236}">
                <a16:creationId xmlns:a16="http://schemas.microsoft.com/office/drawing/2014/main" id="{0C2A9E4A-03D1-7A8B-233D-014A3248F0B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82CEFC4-D276-DF45-F395-F5BD2EA70114}"/>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25519504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12C0AD-76F4-FCE4-2717-0A9AA4351B6D}"/>
              </a:ext>
            </a:extLst>
          </p:cNvPr>
          <p:cNvSpPr>
            <a:spLocks noGrp="1"/>
          </p:cNvSpPr>
          <p:nvPr>
            <p:ph type="dt" sz="half" idx="10"/>
          </p:nvPr>
        </p:nvSpPr>
        <p:spPr/>
        <p:txBody>
          <a:bodyPr/>
          <a:lstStyle/>
          <a:p>
            <a:fld id="{1E351CED-465B-40B5-ADCE-957C918F227B}" type="datetimeFigureOut">
              <a:rPr lang="en-US" smtClean="0"/>
              <a:t>3/27/2026</a:t>
            </a:fld>
            <a:endParaRPr lang="en-US"/>
          </a:p>
        </p:txBody>
      </p:sp>
      <p:sp>
        <p:nvSpPr>
          <p:cNvPr id="3" name="Footer Placeholder 2">
            <a:extLst>
              <a:ext uri="{FF2B5EF4-FFF2-40B4-BE49-F238E27FC236}">
                <a16:creationId xmlns:a16="http://schemas.microsoft.com/office/drawing/2014/main" id="{BE83BB66-3F41-7F1D-5108-B3F679A88E6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FAA6DA0-07AE-4BE4-B82F-7936D0E3E37D}"/>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9194707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BFB75-C953-0BD0-4E2E-717767426228}"/>
              </a:ext>
            </a:extLst>
          </p:cNvPr>
          <p:cNvSpPr>
            <a:spLocks noGrp="1"/>
          </p:cNvSpPr>
          <p:nvPr>
            <p:ph type="title"/>
          </p:nvPr>
        </p:nvSpPr>
        <p:spPr>
          <a:xfrm>
            <a:off x="1066800" y="770626"/>
            <a:ext cx="3705225" cy="1286774"/>
          </a:xfrm>
        </p:spPr>
        <p:txBody>
          <a:bodyPr anchor="b">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E1AA52-60F3-40F2-673B-5848F4253FF0}"/>
              </a:ext>
            </a:extLst>
          </p:cNvPr>
          <p:cNvSpPr>
            <a:spLocks noGrp="1"/>
          </p:cNvSpPr>
          <p:nvPr>
            <p:ph idx="1"/>
          </p:nvPr>
        </p:nvSpPr>
        <p:spPr>
          <a:xfrm>
            <a:off x="5183188" y="1075426"/>
            <a:ext cx="5980112" cy="476837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0167E8-C561-5A72-AED3-442F66DDEE31}"/>
              </a:ext>
            </a:extLst>
          </p:cNvPr>
          <p:cNvSpPr>
            <a:spLocks noGrp="1"/>
          </p:cNvSpPr>
          <p:nvPr>
            <p:ph type="body" sz="half" idx="2"/>
          </p:nvPr>
        </p:nvSpPr>
        <p:spPr>
          <a:xfrm>
            <a:off x="1066800" y="2057400"/>
            <a:ext cx="370522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DBFED3-7CB3-1B8B-9504-13A121CAD015}"/>
              </a:ext>
            </a:extLst>
          </p:cNvPr>
          <p:cNvSpPr>
            <a:spLocks noGrp="1"/>
          </p:cNvSpPr>
          <p:nvPr>
            <p:ph type="dt" sz="half" idx="10"/>
          </p:nvPr>
        </p:nvSpPr>
        <p:spPr/>
        <p:txBody>
          <a:bodyPr/>
          <a:lstStyle/>
          <a:p>
            <a:fld id="{1E351CED-465B-40B5-ADCE-957C918F227B}" type="datetimeFigureOut">
              <a:rPr lang="en-US" smtClean="0"/>
              <a:t>3/27/2026</a:t>
            </a:fld>
            <a:endParaRPr lang="en-US"/>
          </a:p>
        </p:txBody>
      </p:sp>
      <p:sp>
        <p:nvSpPr>
          <p:cNvPr id="6" name="Footer Placeholder 5">
            <a:extLst>
              <a:ext uri="{FF2B5EF4-FFF2-40B4-BE49-F238E27FC236}">
                <a16:creationId xmlns:a16="http://schemas.microsoft.com/office/drawing/2014/main" id="{152456C9-19A0-4441-B1AF-B7AFBF642F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8898EA-84CC-411C-0012-D314953696B9}"/>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20325782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C1E10-1458-2553-05B4-313F7E26D210}"/>
              </a:ext>
            </a:extLst>
          </p:cNvPr>
          <p:cNvSpPr>
            <a:spLocks noGrp="1"/>
          </p:cNvSpPr>
          <p:nvPr>
            <p:ph type="title"/>
          </p:nvPr>
        </p:nvSpPr>
        <p:spPr>
          <a:xfrm>
            <a:off x="1066800" y="782128"/>
            <a:ext cx="3705225" cy="1275272"/>
          </a:xfrm>
        </p:spPr>
        <p:txBody>
          <a:bodyPr anchor="b">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43C0F677-F177-6DED-1920-685B9D9FF254}"/>
              </a:ext>
            </a:extLst>
          </p:cNvPr>
          <p:cNvSpPr>
            <a:spLocks noGrp="1"/>
          </p:cNvSpPr>
          <p:nvPr>
            <p:ph type="pic" idx="1"/>
          </p:nvPr>
        </p:nvSpPr>
        <p:spPr>
          <a:xfrm>
            <a:off x="5183188" y="1143000"/>
            <a:ext cx="5980112" cy="4572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BC4D1CB1-2109-480E-8904-4077C94D6E7D}"/>
              </a:ext>
            </a:extLst>
          </p:cNvPr>
          <p:cNvSpPr>
            <a:spLocks noGrp="1"/>
          </p:cNvSpPr>
          <p:nvPr>
            <p:ph type="body" sz="half" idx="2"/>
          </p:nvPr>
        </p:nvSpPr>
        <p:spPr>
          <a:xfrm>
            <a:off x="1066800" y="2057400"/>
            <a:ext cx="3705225" cy="36576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B0DB38-7CB9-2140-BC21-6D2E7DD0B6B5}"/>
              </a:ext>
            </a:extLst>
          </p:cNvPr>
          <p:cNvSpPr>
            <a:spLocks noGrp="1"/>
          </p:cNvSpPr>
          <p:nvPr>
            <p:ph type="dt" sz="half" idx="10"/>
          </p:nvPr>
        </p:nvSpPr>
        <p:spPr/>
        <p:txBody>
          <a:bodyPr/>
          <a:lstStyle/>
          <a:p>
            <a:fld id="{1E351CED-465B-40B5-ADCE-957C918F227B}" type="datetimeFigureOut">
              <a:rPr lang="en-US" smtClean="0"/>
              <a:t>3/27/2026</a:t>
            </a:fld>
            <a:endParaRPr lang="en-US"/>
          </a:p>
        </p:txBody>
      </p:sp>
      <p:sp>
        <p:nvSpPr>
          <p:cNvPr id="6" name="Footer Placeholder 5">
            <a:extLst>
              <a:ext uri="{FF2B5EF4-FFF2-40B4-BE49-F238E27FC236}">
                <a16:creationId xmlns:a16="http://schemas.microsoft.com/office/drawing/2014/main" id="{C7B448AD-3B1D-4B5E-CAB9-BB5FD2CDEB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EEF53D-CF5A-87A2-E973-3B8CCDEBAA2B}"/>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13297915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50D2E-0561-F284-F89A-AAE3CD09AC24}"/>
              </a:ext>
            </a:extLst>
          </p:cNvPr>
          <p:cNvSpPr>
            <a:spLocks noGrp="1"/>
          </p:cNvSpPr>
          <p:nvPr>
            <p:ph type="title"/>
          </p:nvPr>
        </p:nvSpPr>
        <p:spPr>
          <a:xfrm>
            <a:off x="1066800" y="936841"/>
            <a:ext cx="10239338" cy="953669"/>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2657C4C-16EC-2477-6332-830F53011D33}"/>
              </a:ext>
            </a:extLst>
          </p:cNvPr>
          <p:cNvSpPr>
            <a:spLocks noGrp="1"/>
          </p:cNvSpPr>
          <p:nvPr>
            <p:ph type="body" orient="vert" idx="1"/>
          </p:nvPr>
        </p:nvSpPr>
        <p:spPr>
          <a:xfrm>
            <a:off x="1069848" y="2139696"/>
            <a:ext cx="10239338" cy="367768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0940D3-6996-1C08-F1AF-87C354657912}"/>
              </a:ext>
            </a:extLst>
          </p:cNvPr>
          <p:cNvSpPr>
            <a:spLocks noGrp="1"/>
          </p:cNvSpPr>
          <p:nvPr>
            <p:ph type="dt" sz="half" idx="10"/>
          </p:nvPr>
        </p:nvSpPr>
        <p:spPr/>
        <p:txBody>
          <a:bodyPr/>
          <a:lstStyle/>
          <a:p>
            <a:fld id="{1E351CED-465B-40B5-ADCE-957C918F227B}" type="datetimeFigureOut">
              <a:rPr lang="en-US" smtClean="0"/>
              <a:t>3/27/2026</a:t>
            </a:fld>
            <a:endParaRPr lang="en-US"/>
          </a:p>
        </p:txBody>
      </p:sp>
      <p:sp>
        <p:nvSpPr>
          <p:cNvPr id="5" name="Footer Placeholder 4">
            <a:extLst>
              <a:ext uri="{FF2B5EF4-FFF2-40B4-BE49-F238E27FC236}">
                <a16:creationId xmlns:a16="http://schemas.microsoft.com/office/drawing/2014/main" id="{4C3676C3-588F-B636-8CE0-AA2CBFBCE9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CEF8A9-EB1E-B344-A4B8-B58D0633630B}"/>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851482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EF3A28-33E4-2796-AE7A-1234569F5CE0}"/>
              </a:ext>
            </a:extLst>
          </p:cNvPr>
          <p:cNvSpPr>
            <a:spLocks noGrp="1"/>
          </p:cNvSpPr>
          <p:nvPr>
            <p:ph type="title" orient="vert"/>
          </p:nvPr>
        </p:nvSpPr>
        <p:spPr>
          <a:xfrm>
            <a:off x="8844950" y="1081177"/>
            <a:ext cx="2508849" cy="4633823"/>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A6D185FC-2BBB-E997-A5CD-F2C6CF6B7C68}"/>
              </a:ext>
            </a:extLst>
          </p:cNvPr>
          <p:cNvSpPr>
            <a:spLocks noGrp="1"/>
          </p:cNvSpPr>
          <p:nvPr>
            <p:ph type="body" orient="vert" idx="1"/>
          </p:nvPr>
        </p:nvSpPr>
        <p:spPr>
          <a:xfrm>
            <a:off x="1066800" y="1081177"/>
            <a:ext cx="7505700" cy="463382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E314B3C-96CD-071C-C2AD-2C7E04F819C0}"/>
              </a:ext>
            </a:extLst>
          </p:cNvPr>
          <p:cNvSpPr>
            <a:spLocks noGrp="1"/>
          </p:cNvSpPr>
          <p:nvPr>
            <p:ph type="dt" sz="half" idx="10"/>
          </p:nvPr>
        </p:nvSpPr>
        <p:spPr/>
        <p:txBody>
          <a:bodyPr/>
          <a:lstStyle/>
          <a:p>
            <a:fld id="{1E351CED-465B-40B5-ADCE-957C918F227B}" type="datetimeFigureOut">
              <a:rPr lang="en-US" smtClean="0"/>
              <a:t>3/27/2026</a:t>
            </a:fld>
            <a:endParaRPr lang="en-US"/>
          </a:p>
        </p:txBody>
      </p:sp>
      <p:sp>
        <p:nvSpPr>
          <p:cNvPr id="5" name="Footer Placeholder 4">
            <a:extLst>
              <a:ext uri="{FF2B5EF4-FFF2-40B4-BE49-F238E27FC236}">
                <a16:creationId xmlns:a16="http://schemas.microsoft.com/office/drawing/2014/main" id="{F5AA2B04-F5E0-C5A3-C77D-6AE9A9E913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155BC2-C712-C4A4-50EC-E10D88344310}"/>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37797155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1F4A25-A386-9574-775C-E5E5F9FC352A}"/>
              </a:ext>
            </a:extLst>
          </p:cNvPr>
          <p:cNvSpPr>
            <a:spLocks noGrp="1"/>
          </p:cNvSpPr>
          <p:nvPr>
            <p:ph type="title"/>
          </p:nvPr>
        </p:nvSpPr>
        <p:spPr>
          <a:xfrm>
            <a:off x="1066800" y="936841"/>
            <a:ext cx="8886884" cy="953669"/>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4F7885F-2B7B-74DB-9996-E0ACEBC9DB25}"/>
              </a:ext>
            </a:extLst>
          </p:cNvPr>
          <p:cNvSpPr>
            <a:spLocks noGrp="1"/>
          </p:cNvSpPr>
          <p:nvPr>
            <p:ph type="body" idx="1"/>
          </p:nvPr>
        </p:nvSpPr>
        <p:spPr>
          <a:xfrm>
            <a:off x="1069848" y="2139696"/>
            <a:ext cx="8883836" cy="36776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6804F519-BA47-2B81-CC1C-7E1F119EC69E}"/>
              </a:ext>
            </a:extLst>
          </p:cNvPr>
          <p:cNvSpPr>
            <a:spLocks noGrp="1"/>
          </p:cNvSpPr>
          <p:nvPr>
            <p:ph type="dt" sz="half" idx="2"/>
          </p:nvPr>
        </p:nvSpPr>
        <p:spPr>
          <a:xfrm rot="5400000">
            <a:off x="10477379" y="4629744"/>
            <a:ext cx="2653508" cy="365125"/>
          </a:xfrm>
          <a:prstGeom prst="rect">
            <a:avLst/>
          </a:prstGeom>
        </p:spPr>
        <p:txBody>
          <a:bodyPr vert="horz" lIns="91440" tIns="45720" rIns="91440" bIns="45720" rtlCol="0" anchor="ctr"/>
          <a:lstStyle>
            <a:lvl1pPr algn="r">
              <a:defRPr sz="900">
                <a:solidFill>
                  <a:schemeClr val="tx1"/>
                </a:solidFill>
              </a:defRPr>
            </a:lvl1pPr>
          </a:lstStyle>
          <a:p>
            <a:fld id="{1E351CED-465B-40B5-ADCE-957C918F227B}" type="datetimeFigureOut">
              <a:rPr lang="en-US" smtClean="0"/>
              <a:t>3/27/2026</a:t>
            </a:fld>
            <a:endParaRPr lang="en-US"/>
          </a:p>
        </p:txBody>
      </p:sp>
      <p:sp>
        <p:nvSpPr>
          <p:cNvPr id="5" name="Footer Placeholder 4">
            <a:extLst>
              <a:ext uri="{FF2B5EF4-FFF2-40B4-BE49-F238E27FC236}">
                <a16:creationId xmlns:a16="http://schemas.microsoft.com/office/drawing/2014/main" id="{BE952D7B-C352-1630-4C3D-7D5983C04D4A}"/>
              </a:ext>
            </a:extLst>
          </p:cNvPr>
          <p:cNvSpPr>
            <a:spLocks noGrp="1"/>
          </p:cNvSpPr>
          <p:nvPr>
            <p:ph type="ftr" sz="quarter" idx="3"/>
          </p:nvPr>
        </p:nvSpPr>
        <p:spPr>
          <a:xfrm>
            <a:off x="8610602" y="6318446"/>
            <a:ext cx="2743198" cy="365125"/>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F96E04F0-DF9B-480B-CC46-BAE7A81FB7E6}"/>
              </a:ext>
            </a:extLst>
          </p:cNvPr>
          <p:cNvSpPr>
            <a:spLocks noGrp="1"/>
          </p:cNvSpPr>
          <p:nvPr>
            <p:ph type="sldNum" sz="quarter" idx="4"/>
          </p:nvPr>
        </p:nvSpPr>
        <p:spPr>
          <a:xfrm>
            <a:off x="11353800" y="6318446"/>
            <a:ext cx="615696" cy="365125"/>
          </a:xfrm>
          <a:prstGeom prst="rect">
            <a:avLst/>
          </a:prstGeom>
        </p:spPr>
        <p:txBody>
          <a:bodyPr vert="horz" lIns="91440" tIns="45720" rIns="91440" bIns="45720" rtlCol="0" anchor="ctr"/>
          <a:lstStyle>
            <a:lvl1pPr algn="r">
              <a:defRPr sz="1600" b="1">
                <a:solidFill>
                  <a:schemeClr val="tx1"/>
                </a:solidFill>
              </a:defRPr>
            </a:lvl1pPr>
          </a:lstStyle>
          <a:p>
            <a:fld id="{5A33CB2A-1702-4C1D-9CC4-8D472D39F19E}" type="slidenum">
              <a:rPr lang="en-US" smtClean="0"/>
              <a:t>‹#›</a:t>
            </a:fld>
            <a:endParaRPr lang="en-US"/>
          </a:p>
        </p:txBody>
      </p:sp>
    </p:spTree>
    <p:extLst>
      <p:ext uri="{BB962C8B-B14F-4D97-AF65-F5344CB8AC3E}">
        <p14:creationId xmlns:p14="http://schemas.microsoft.com/office/powerpoint/2010/main" val="1497058183"/>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1" r:id="rId6"/>
    <p:sldLayoutId id="2147483727" r:id="rId7"/>
    <p:sldLayoutId id="2147483728" r:id="rId8"/>
    <p:sldLayoutId id="2147483729" r:id="rId9"/>
    <p:sldLayoutId id="2147483730" r:id="rId10"/>
    <p:sldLayoutId id="2147483732" r:id="rId11"/>
  </p:sldLayoutIdLst>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548640" indent="-228600" algn="l" defTabSz="914400" rtl="0" eaLnBrk="1" latinLnBrk="0" hangingPunct="1">
        <a:lnSpc>
          <a:spcPct val="120000"/>
        </a:lnSpc>
        <a:spcBef>
          <a:spcPts val="500"/>
        </a:spcBef>
        <a:buFont typeface="Neue Haas Grotesk Text Pro" panose="020B0504020202020204" pitchFamily="34" charset="0"/>
        <a:buChar char="–"/>
        <a:defRPr sz="1600" kern="1200">
          <a:solidFill>
            <a:schemeClr val="tx1"/>
          </a:solidFill>
          <a:latin typeface="+mn-lt"/>
          <a:ea typeface="+mn-ea"/>
          <a:cs typeface="+mn-cs"/>
        </a:defRPr>
      </a:lvl2pPr>
      <a:lvl3pPr marL="77724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Neue Haas Grotesk Text Pro" panose="020B0504020202020204" pitchFamily="34" charset="0"/>
        <a:buChar char="–"/>
        <a:defRPr sz="1200" kern="1200">
          <a:solidFill>
            <a:schemeClr val="tx1"/>
          </a:solidFill>
          <a:latin typeface="+mn-lt"/>
          <a:ea typeface="+mn-ea"/>
          <a:cs typeface="+mn-cs"/>
        </a:defRPr>
      </a:lvl4pPr>
      <a:lvl5pPr marL="109728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8.sv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0.sv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2.sv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4.sv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6.svg"/></Relationships>
</file>

<file path=ppt/slides/_rels/slide18.xml.rels><?xml version="1.0" encoding="UTF-8" standalone="yes"?>
<Relationships xmlns="http://schemas.openxmlformats.org/package/2006/relationships"><Relationship Id="rId3" Type="http://schemas.openxmlformats.org/officeDocument/2006/relationships/hyperlink" Target="https://arxiv.org/abs/1807.06521" TargetMode="External"/><Relationship Id="rId2" Type="http://schemas.openxmlformats.org/officeDocument/2006/relationships/hyperlink" Target="https://arxiv.org/abs/1709.01507"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E79BCD8-F96A-D299-7116-3BEAEC167F69}"/>
              </a:ext>
            </a:extLst>
          </p:cNvPr>
          <p:cNvPicPr>
            <a:picLocks noChangeAspect="1"/>
          </p:cNvPicPr>
          <p:nvPr/>
        </p:nvPicPr>
        <p:blipFill>
          <a:blip r:embed="rId2"/>
          <a:srcRect t="41102" b="2660"/>
          <a:stretch>
            <a:fillRect/>
          </a:stretch>
        </p:blipFill>
        <p:spPr>
          <a:xfrm>
            <a:off x="20" y="10"/>
            <a:ext cx="12191980" cy="6856539"/>
          </a:xfrm>
          <a:prstGeom prst="rect">
            <a:avLst/>
          </a:prstGeom>
        </p:spPr>
      </p:pic>
      <p:sp useBgFill="1">
        <p:nvSpPr>
          <p:cNvPr id="36" name="Freeform: Shape 35">
            <a:extLst>
              <a:ext uri="{FF2B5EF4-FFF2-40B4-BE49-F238E27FC236}">
                <a16:creationId xmlns:a16="http://schemas.microsoft.com/office/drawing/2014/main" id="{4C17FB6D-1600-4E66-7284-B891E8CAE3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2509220 h 6858000"/>
              <a:gd name="connsiteX3" fmla="*/ 12101547 w 12192000"/>
              <a:gd name="connsiteY3" fmla="*/ 2423585 h 6858000"/>
              <a:gd name="connsiteX4" fmla="*/ 9486146 w 12192000"/>
              <a:gd name="connsiteY4" fmla="*/ 1397525 h 6858000"/>
              <a:gd name="connsiteX5" fmla="*/ 9252903 w 12192000"/>
              <a:gd name="connsiteY5" fmla="*/ 1400410 h 6858000"/>
              <a:gd name="connsiteX6" fmla="*/ 7112548 w 12192000"/>
              <a:gd name="connsiteY6" fmla="*/ 2129232 h 6858000"/>
              <a:gd name="connsiteX7" fmla="*/ 7029340 w 12192000"/>
              <a:gd name="connsiteY7" fmla="*/ 2191218 h 6858000"/>
              <a:gd name="connsiteX8" fmla="*/ 1081914 w 12192000"/>
              <a:gd name="connsiteY8" fmla="*/ 6858000 h 6858000"/>
              <a:gd name="connsiteX9" fmla="*/ 0 w 12192000"/>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6858000">
                <a:moveTo>
                  <a:pt x="0" y="0"/>
                </a:moveTo>
                <a:lnTo>
                  <a:pt x="12192000" y="0"/>
                </a:lnTo>
                <a:lnTo>
                  <a:pt x="12192000" y="2509220"/>
                </a:lnTo>
                <a:lnTo>
                  <a:pt x="12101547" y="2423585"/>
                </a:lnTo>
                <a:cubicBezTo>
                  <a:pt x="11368081" y="1762881"/>
                  <a:pt x="10433134" y="1413255"/>
                  <a:pt x="9486146" y="1397525"/>
                </a:cubicBezTo>
                <a:cubicBezTo>
                  <a:pt x="9408445" y="1396235"/>
                  <a:pt x="9330662" y="1397191"/>
                  <a:pt x="9252903" y="1400410"/>
                </a:cubicBezTo>
                <a:cubicBezTo>
                  <a:pt x="8506417" y="1431302"/>
                  <a:pt x="7762104" y="1670525"/>
                  <a:pt x="7112548" y="2129232"/>
                </a:cubicBezTo>
                <a:lnTo>
                  <a:pt x="7029340" y="2191218"/>
                </a:lnTo>
                <a:lnTo>
                  <a:pt x="1081914" y="6858000"/>
                </a:lnTo>
                <a:lnTo>
                  <a:pt x="0" y="6858000"/>
                </a:lnTo>
                <a:close/>
              </a:path>
            </a:pathLst>
          </a:cu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4A8473-AD1B-75F8-AC70-2616AC2B62FD}"/>
              </a:ext>
            </a:extLst>
          </p:cNvPr>
          <p:cNvSpPr>
            <a:spLocks noGrp="1"/>
          </p:cNvSpPr>
          <p:nvPr>
            <p:ph type="ctrTitle"/>
          </p:nvPr>
        </p:nvSpPr>
        <p:spPr>
          <a:xfrm>
            <a:off x="973880" y="784747"/>
            <a:ext cx="6352206" cy="1555842"/>
          </a:xfrm>
        </p:spPr>
        <p:txBody>
          <a:bodyPr>
            <a:normAutofit/>
          </a:bodyPr>
          <a:lstStyle/>
          <a:p>
            <a:pPr>
              <a:lnSpc>
                <a:spcPct val="90000"/>
              </a:lnSpc>
            </a:pPr>
            <a:r>
              <a:rPr lang="en-GB" sz="1700" dirty="0"/>
              <a:t>ATTENTION-AUGMENTED CNN ARCHITECTURES FOR MULTIPLE SCLEROSIS MRI CLASSIFICATION: A COMPARATIVE STUDY OF ATTENTION MECHANISMS, METRIC LEARNING, AND VISION TRANSFORMERS</a:t>
            </a:r>
          </a:p>
        </p:txBody>
      </p:sp>
      <p:sp>
        <p:nvSpPr>
          <p:cNvPr id="3" name="Subtitle 2">
            <a:extLst>
              <a:ext uri="{FF2B5EF4-FFF2-40B4-BE49-F238E27FC236}">
                <a16:creationId xmlns:a16="http://schemas.microsoft.com/office/drawing/2014/main" id="{C0118DCA-DAB7-9B4A-6EF3-D2B57B3D3E7A}"/>
              </a:ext>
            </a:extLst>
          </p:cNvPr>
          <p:cNvSpPr>
            <a:spLocks noGrp="1"/>
          </p:cNvSpPr>
          <p:nvPr>
            <p:ph type="subTitle" idx="1"/>
          </p:nvPr>
        </p:nvSpPr>
        <p:spPr>
          <a:xfrm>
            <a:off x="988181" y="2411603"/>
            <a:ext cx="3866848" cy="1353250"/>
          </a:xfrm>
        </p:spPr>
        <p:txBody>
          <a:bodyPr>
            <a:normAutofit/>
          </a:bodyPr>
          <a:lstStyle/>
          <a:p>
            <a:r>
              <a:rPr lang="en-GB" dirty="0"/>
              <a:t>By Mark McNaught</a:t>
            </a:r>
          </a:p>
          <a:p>
            <a:r>
              <a:rPr lang="en-GB" dirty="0"/>
              <a:t>Supervisor: Dr Chris McCaig</a:t>
            </a:r>
          </a:p>
        </p:txBody>
      </p:sp>
    </p:spTree>
    <p:extLst>
      <p:ext uri="{BB962C8B-B14F-4D97-AF65-F5344CB8AC3E}">
        <p14:creationId xmlns:p14="http://schemas.microsoft.com/office/powerpoint/2010/main" val="26169186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063577F-2949-C31E-B4B0-5E250230FD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17E4A51B-BAF6-3729-A2C0-89331F2FB7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0365" y="-318"/>
            <a:ext cx="5907885" cy="3479046"/>
          </a:xfrm>
          <a:custGeom>
            <a:avLst/>
            <a:gdLst>
              <a:gd name="connsiteX0" fmla="*/ 5171297 w 5907885"/>
              <a:gd name="connsiteY0" fmla="*/ 284 h 3479046"/>
              <a:gd name="connsiteX1" fmla="*/ 5813217 w 5907885"/>
              <a:gd name="connsiteY1" fmla="*/ 114238 h 3479046"/>
              <a:gd name="connsiteX2" fmla="*/ 5907885 w 5907885"/>
              <a:gd name="connsiteY2" fmla="*/ 151524 h 3479046"/>
              <a:gd name="connsiteX3" fmla="*/ 5907885 w 5907885"/>
              <a:gd name="connsiteY3" fmla="*/ 3479046 h 3479046"/>
              <a:gd name="connsiteX4" fmla="*/ 0 w 5907885"/>
              <a:gd name="connsiteY4" fmla="*/ 3479046 h 3479046"/>
              <a:gd name="connsiteX5" fmla="*/ 3916974 w 5907885"/>
              <a:gd name="connsiteY5" fmla="*/ 405504 h 3479046"/>
              <a:gd name="connsiteX6" fmla="*/ 3959456 w 5907885"/>
              <a:gd name="connsiteY6" fmla="*/ 373857 h 3479046"/>
              <a:gd name="connsiteX7" fmla="*/ 5052215 w 5907885"/>
              <a:gd name="connsiteY7" fmla="*/ 1756 h 3479046"/>
              <a:gd name="connsiteX8" fmla="*/ 5171297 w 5907885"/>
              <a:gd name="connsiteY8" fmla="*/ 284 h 3479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07885" h="3479046">
                <a:moveTo>
                  <a:pt x="5171297" y="284"/>
                </a:moveTo>
                <a:cubicBezTo>
                  <a:pt x="5389485" y="3908"/>
                  <a:pt x="5606422" y="42249"/>
                  <a:pt x="5813217" y="114238"/>
                </a:cubicBezTo>
                <a:lnTo>
                  <a:pt x="5907885" y="151524"/>
                </a:lnTo>
                <a:lnTo>
                  <a:pt x="5907885" y="3479046"/>
                </a:lnTo>
                <a:lnTo>
                  <a:pt x="0" y="3479046"/>
                </a:lnTo>
                <a:lnTo>
                  <a:pt x="3916974" y="405504"/>
                </a:lnTo>
                <a:lnTo>
                  <a:pt x="3959456" y="373857"/>
                </a:lnTo>
                <a:cubicBezTo>
                  <a:pt x="4291086" y="139664"/>
                  <a:pt x="4671097" y="17528"/>
                  <a:pt x="5052215" y="1756"/>
                </a:cubicBezTo>
                <a:cubicBezTo>
                  <a:pt x="5091916" y="114"/>
                  <a:pt x="5131627" y="-375"/>
                  <a:pt x="5171297" y="284"/>
                </a:cubicBezTo>
                <a:close/>
              </a:path>
            </a:pathLst>
          </a:custGeom>
          <a:gradFill>
            <a:gsLst>
              <a:gs pos="40000">
                <a:schemeClr val="bg2"/>
              </a:gs>
              <a:gs pos="100000">
                <a:schemeClr val="accent1">
                  <a:lumMod val="60000"/>
                  <a:lumOff val="40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4451087-83B2-5242-F77A-B089B7B1A363}"/>
              </a:ext>
            </a:extLst>
          </p:cNvPr>
          <p:cNvSpPr>
            <a:spLocks noGrp="1"/>
          </p:cNvSpPr>
          <p:nvPr>
            <p:ph type="title"/>
          </p:nvPr>
        </p:nvSpPr>
        <p:spPr>
          <a:xfrm>
            <a:off x="1066801" y="1143000"/>
            <a:ext cx="5029199" cy="1061720"/>
          </a:xfrm>
        </p:spPr>
        <p:txBody>
          <a:bodyPr anchor="t">
            <a:normAutofit/>
          </a:bodyPr>
          <a:lstStyle/>
          <a:p>
            <a:r>
              <a:rPr lang="en-GB" dirty="0"/>
              <a:t>Project Aims</a:t>
            </a:r>
          </a:p>
        </p:txBody>
      </p:sp>
      <p:graphicFrame>
        <p:nvGraphicFramePr>
          <p:cNvPr id="5" name="Content Placeholder 2">
            <a:extLst>
              <a:ext uri="{FF2B5EF4-FFF2-40B4-BE49-F238E27FC236}">
                <a16:creationId xmlns:a16="http://schemas.microsoft.com/office/drawing/2014/main" id="{D0C1210F-DC41-A35F-959C-D9D2169CE460}"/>
              </a:ext>
            </a:extLst>
          </p:cNvPr>
          <p:cNvGraphicFramePr>
            <a:graphicFrameLocks noGrp="1"/>
          </p:cNvGraphicFramePr>
          <p:nvPr>
            <p:ph idx="1"/>
            <p:extLst>
              <p:ext uri="{D42A27DB-BD31-4B8C-83A1-F6EECF244321}">
                <p14:modId xmlns:p14="http://schemas.microsoft.com/office/powerpoint/2010/main" val="1057296819"/>
              </p:ext>
            </p:extLst>
          </p:nvPr>
        </p:nvGraphicFramePr>
        <p:xfrm>
          <a:off x="985157" y="1861457"/>
          <a:ext cx="10221686" cy="40277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738784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72AA3712-C5CA-A663-E80E-253CE0930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DBE0A1-443C-7AD6-7BA1-278D5A63F713}"/>
              </a:ext>
            </a:extLst>
          </p:cNvPr>
          <p:cNvSpPr>
            <a:spLocks noGrp="1"/>
          </p:cNvSpPr>
          <p:nvPr>
            <p:ph type="title"/>
          </p:nvPr>
        </p:nvSpPr>
        <p:spPr>
          <a:xfrm>
            <a:off x="1066797" y="1142998"/>
            <a:ext cx="4875415" cy="1257299"/>
          </a:xfrm>
        </p:spPr>
        <p:txBody>
          <a:bodyPr anchor="ctr">
            <a:normAutofit/>
          </a:bodyPr>
          <a:lstStyle/>
          <a:p>
            <a:r>
              <a:rPr lang="en-GB" dirty="0"/>
              <a:t>Multiple Sclerosis (MS)</a:t>
            </a:r>
          </a:p>
        </p:txBody>
      </p:sp>
      <p:sp>
        <p:nvSpPr>
          <p:cNvPr id="3" name="Content Placeholder 2">
            <a:extLst>
              <a:ext uri="{FF2B5EF4-FFF2-40B4-BE49-F238E27FC236}">
                <a16:creationId xmlns:a16="http://schemas.microsoft.com/office/drawing/2014/main" id="{98DA56B3-6687-C698-0EB7-D4952792C3F6}"/>
              </a:ext>
            </a:extLst>
          </p:cNvPr>
          <p:cNvSpPr>
            <a:spLocks noGrp="1"/>
          </p:cNvSpPr>
          <p:nvPr>
            <p:ph idx="1"/>
          </p:nvPr>
        </p:nvSpPr>
        <p:spPr>
          <a:xfrm>
            <a:off x="1066797" y="2133600"/>
            <a:ext cx="4173415" cy="3581402"/>
          </a:xfrm>
        </p:spPr>
        <p:txBody>
          <a:bodyPr>
            <a:normAutofit fontScale="92500"/>
          </a:bodyPr>
          <a:lstStyle/>
          <a:p>
            <a:r>
              <a:rPr lang="en-GB" dirty="0"/>
              <a:t>Chronic, inflammatory demyelinating disease of the central nervous system</a:t>
            </a:r>
          </a:p>
          <a:p>
            <a:r>
              <a:rPr lang="en-GB" dirty="0"/>
              <a:t>A leading causes of long-term neurological disability in young adults</a:t>
            </a:r>
          </a:p>
          <a:p>
            <a:r>
              <a:rPr lang="en-GB" dirty="0"/>
              <a:t>Affects 2.9 million people globally, 150,000 in the UK</a:t>
            </a:r>
          </a:p>
          <a:p>
            <a:r>
              <a:rPr lang="en-GB" dirty="0"/>
              <a:t>Mean age of onset: ~30 years</a:t>
            </a:r>
          </a:p>
          <a:p>
            <a:r>
              <a:rPr lang="en-GB" dirty="0"/>
              <a:t>Profound impact on quality of life</a:t>
            </a:r>
          </a:p>
        </p:txBody>
      </p:sp>
      <p:pic>
        <p:nvPicPr>
          <p:cNvPr id="7" name="Picture 6">
            <a:extLst>
              <a:ext uri="{FF2B5EF4-FFF2-40B4-BE49-F238E27FC236}">
                <a16:creationId xmlns:a16="http://schemas.microsoft.com/office/drawing/2014/main" id="{0FFC974D-C0A6-6439-ECC4-F59461D7EB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49787" y="914400"/>
            <a:ext cx="4645425" cy="4995081"/>
          </a:xfrm>
          <a:prstGeom prst="rect">
            <a:avLst/>
          </a:prstGeom>
        </p:spPr>
      </p:pic>
      <p:sp>
        <p:nvSpPr>
          <p:cNvPr id="4" name="TextBox 3">
            <a:extLst>
              <a:ext uri="{FF2B5EF4-FFF2-40B4-BE49-F238E27FC236}">
                <a16:creationId xmlns:a16="http://schemas.microsoft.com/office/drawing/2014/main" id="{DCBF3066-0673-361E-0D25-79EF45A47D14}"/>
              </a:ext>
            </a:extLst>
          </p:cNvPr>
          <p:cNvSpPr txBox="1"/>
          <p:nvPr/>
        </p:nvSpPr>
        <p:spPr>
          <a:xfrm>
            <a:off x="6684802" y="5943600"/>
            <a:ext cx="3775393" cy="246221"/>
          </a:xfrm>
          <a:prstGeom prst="rect">
            <a:avLst/>
          </a:prstGeom>
          <a:noFill/>
        </p:spPr>
        <p:txBody>
          <a:bodyPr wrap="none" rtlCol="0">
            <a:spAutoFit/>
          </a:bodyPr>
          <a:lstStyle/>
          <a:p>
            <a:r>
              <a:rPr lang="en-GB" sz="1000" dirty="0"/>
              <a:t>Image 1: MRI axial scan of MS positive patient (Kaggle 2022)</a:t>
            </a:r>
          </a:p>
        </p:txBody>
      </p:sp>
    </p:spTree>
    <p:extLst>
      <p:ext uri="{BB962C8B-B14F-4D97-AF65-F5344CB8AC3E}">
        <p14:creationId xmlns:p14="http://schemas.microsoft.com/office/powerpoint/2010/main" val="26123381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B6722-FE3B-3248-7FB1-CE08EF3A1059}"/>
              </a:ext>
            </a:extLst>
          </p:cNvPr>
          <p:cNvSpPr>
            <a:spLocks noGrp="1"/>
          </p:cNvSpPr>
          <p:nvPr>
            <p:ph type="title"/>
          </p:nvPr>
        </p:nvSpPr>
        <p:spPr>
          <a:xfrm>
            <a:off x="740229" y="512298"/>
            <a:ext cx="8886884" cy="953669"/>
          </a:xfrm>
        </p:spPr>
        <p:txBody>
          <a:bodyPr/>
          <a:lstStyle/>
          <a:p>
            <a:r>
              <a:rPr lang="en-GB" dirty="0"/>
              <a:t>Diagnostic Challenges</a:t>
            </a:r>
          </a:p>
        </p:txBody>
      </p:sp>
      <p:sp>
        <p:nvSpPr>
          <p:cNvPr id="3" name="Content Placeholder 2">
            <a:extLst>
              <a:ext uri="{FF2B5EF4-FFF2-40B4-BE49-F238E27FC236}">
                <a16:creationId xmlns:a16="http://schemas.microsoft.com/office/drawing/2014/main" id="{0CF37379-71A7-9262-2835-FFB15448BF82}"/>
              </a:ext>
            </a:extLst>
          </p:cNvPr>
          <p:cNvSpPr>
            <a:spLocks noGrp="1"/>
          </p:cNvSpPr>
          <p:nvPr>
            <p:ph idx="1"/>
          </p:nvPr>
        </p:nvSpPr>
        <p:spPr>
          <a:xfrm>
            <a:off x="964909" y="1638953"/>
            <a:ext cx="10262181" cy="4555018"/>
          </a:xfrm>
        </p:spPr>
        <p:txBody>
          <a:bodyPr>
            <a:normAutofit fontScale="92500" lnSpcReduction="20000"/>
          </a:bodyPr>
          <a:lstStyle/>
          <a:p>
            <a:r>
              <a:rPr lang="en-GB" dirty="0"/>
              <a:t>No single definitive diagnostic test (McDonald Criteria), depends on</a:t>
            </a:r>
          </a:p>
          <a:p>
            <a:pPr lvl="1"/>
            <a:r>
              <a:rPr lang="en-GB" dirty="0"/>
              <a:t>expert interpretation of magnetic resonance imaging (MRI), </a:t>
            </a:r>
          </a:p>
          <a:p>
            <a:pPr lvl="2"/>
            <a:r>
              <a:rPr lang="en-GB" dirty="0" err="1"/>
              <a:t>DiS</a:t>
            </a:r>
            <a:endParaRPr lang="en-GB" dirty="0"/>
          </a:p>
          <a:p>
            <a:pPr lvl="2"/>
            <a:r>
              <a:rPr lang="en-GB" dirty="0" err="1"/>
              <a:t>DiT</a:t>
            </a:r>
            <a:endParaRPr lang="en-GB" dirty="0"/>
          </a:p>
          <a:p>
            <a:pPr lvl="1"/>
            <a:r>
              <a:rPr lang="en-GB" dirty="0"/>
              <a:t>integrated with clinical history (clinical attacks)</a:t>
            </a:r>
          </a:p>
          <a:p>
            <a:r>
              <a:rPr lang="en-GB" dirty="0"/>
              <a:t>Misdiagnosed in 15% of cases, underdiagnosed in 36%</a:t>
            </a:r>
          </a:p>
          <a:p>
            <a:r>
              <a:rPr lang="en-GB" dirty="0"/>
              <a:t>Average diagnostic delay: 17+ months</a:t>
            </a:r>
          </a:p>
          <a:p>
            <a:r>
              <a:rPr lang="en-GB" dirty="0"/>
              <a:t>Radiologist interpretation is expert-dependant and variable</a:t>
            </a:r>
          </a:p>
          <a:p>
            <a:pPr lvl="1"/>
            <a:r>
              <a:rPr lang="en-GB" dirty="0"/>
              <a:t>Inter-rater differences of up to 68% in lesion volume estimations</a:t>
            </a:r>
          </a:p>
          <a:p>
            <a:r>
              <a:rPr lang="en-GB" dirty="0"/>
              <a:t>Traditional methods fail to provide consistent results and generalisation across scans</a:t>
            </a:r>
          </a:p>
          <a:p>
            <a:r>
              <a:rPr lang="en-GB" dirty="0"/>
              <a:t>Solution: Deep learning - learn representations directly from data</a:t>
            </a:r>
          </a:p>
          <a:p>
            <a:pPr lvl="1"/>
            <a:r>
              <a:rPr lang="en-GB" dirty="0"/>
              <a:t>Data scarcity issue for small medical datasets</a:t>
            </a:r>
          </a:p>
          <a:p>
            <a:pPr lvl="1"/>
            <a:r>
              <a:rPr lang="en-GB" dirty="0"/>
              <a:t>Transfer learning</a:t>
            </a:r>
          </a:p>
          <a:p>
            <a:endParaRPr lang="en-GB" dirty="0"/>
          </a:p>
        </p:txBody>
      </p:sp>
    </p:spTree>
    <p:extLst>
      <p:ext uri="{BB962C8B-B14F-4D97-AF65-F5344CB8AC3E}">
        <p14:creationId xmlns:p14="http://schemas.microsoft.com/office/powerpoint/2010/main" val="9220979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E259EAA-3827-BEFD-3AE5-26669D20B4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B6CA64-1AB3-238A-E679-EBDEEAAB9BB8}"/>
              </a:ext>
            </a:extLst>
          </p:cNvPr>
          <p:cNvSpPr>
            <a:spLocks noGrp="1"/>
          </p:cNvSpPr>
          <p:nvPr>
            <p:ph type="title"/>
          </p:nvPr>
        </p:nvSpPr>
        <p:spPr>
          <a:xfrm>
            <a:off x="994013" y="1144369"/>
            <a:ext cx="5101987" cy="1922929"/>
          </a:xfrm>
        </p:spPr>
        <p:txBody>
          <a:bodyPr anchor="t">
            <a:normAutofit/>
          </a:bodyPr>
          <a:lstStyle/>
          <a:p>
            <a:pPr algn="r"/>
            <a:r>
              <a:rPr lang="en-GB" sz="4400" dirty="0"/>
              <a:t>Convolutional Neural Networks (CNNs)</a:t>
            </a:r>
          </a:p>
        </p:txBody>
      </p:sp>
      <p:pic>
        <p:nvPicPr>
          <p:cNvPr id="5" name="Graphic 4">
            <a:extLst>
              <a:ext uri="{FF2B5EF4-FFF2-40B4-BE49-F238E27FC236}">
                <a16:creationId xmlns:a16="http://schemas.microsoft.com/office/drawing/2014/main" id="{7DB44E8C-0B0C-C27D-4B35-D2F7EB220D1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66426" y="3067298"/>
            <a:ext cx="5033323" cy="2353818"/>
          </a:xfrm>
          <a:prstGeom prst="rect">
            <a:avLst/>
          </a:prstGeom>
        </p:spPr>
      </p:pic>
      <p:sp>
        <p:nvSpPr>
          <p:cNvPr id="3" name="Content Placeholder 2">
            <a:extLst>
              <a:ext uri="{FF2B5EF4-FFF2-40B4-BE49-F238E27FC236}">
                <a16:creationId xmlns:a16="http://schemas.microsoft.com/office/drawing/2014/main" id="{EC1BC534-CFB0-99DC-8015-6140BF92D315}"/>
              </a:ext>
            </a:extLst>
          </p:cNvPr>
          <p:cNvSpPr>
            <a:spLocks noGrp="1"/>
          </p:cNvSpPr>
          <p:nvPr>
            <p:ph idx="1"/>
          </p:nvPr>
        </p:nvSpPr>
        <p:spPr>
          <a:xfrm>
            <a:off x="7239000" y="1144369"/>
            <a:ext cx="3810000" cy="4570630"/>
          </a:xfrm>
        </p:spPr>
        <p:txBody>
          <a:bodyPr>
            <a:normAutofit/>
          </a:bodyPr>
          <a:lstStyle/>
          <a:p>
            <a:pPr>
              <a:lnSpc>
                <a:spcPct val="110000"/>
              </a:lnSpc>
            </a:pPr>
            <a:r>
              <a:rPr lang="en-GB" sz="1700"/>
              <a:t>Dominant paradigm: 76% of deep learning MS MRI approaches use CNNs</a:t>
            </a:r>
          </a:p>
          <a:p>
            <a:pPr>
              <a:lnSpc>
                <a:spcPct val="110000"/>
              </a:lnSpc>
            </a:pPr>
            <a:r>
              <a:rPr lang="en-GB" sz="1700"/>
              <a:t>Spatially structured lesion patterns are a natural fit</a:t>
            </a:r>
          </a:p>
          <a:p>
            <a:pPr>
              <a:lnSpc>
                <a:spcPct val="110000"/>
              </a:lnSpc>
            </a:pPr>
            <a:r>
              <a:rPr lang="en-GB" sz="1700"/>
              <a:t>Learnable filters detect local patterns: edges, textures, structures</a:t>
            </a:r>
          </a:p>
          <a:p>
            <a:pPr>
              <a:lnSpc>
                <a:spcPct val="110000"/>
              </a:lnSpc>
            </a:pPr>
            <a:r>
              <a:rPr lang="en-GB" sz="1700"/>
              <a:t>Hierarchical representations: low-level features </a:t>
            </a:r>
            <a:r>
              <a:rPr lang="en-GB" sz="1700">
                <a:sym typeface="Wingdings" panose="05000000000000000000" pitchFamily="2" charset="2"/>
              </a:rPr>
              <a:t> semantically meaningful features</a:t>
            </a:r>
          </a:p>
          <a:p>
            <a:pPr>
              <a:lnSpc>
                <a:spcPct val="110000"/>
              </a:lnSpc>
            </a:pPr>
            <a:r>
              <a:rPr lang="en-GB" sz="1700">
                <a:sym typeface="Wingdings" panose="05000000000000000000" pitchFamily="2" charset="2"/>
              </a:rPr>
              <a:t>Weight sharing: detect a feature once, apply everywhere</a:t>
            </a:r>
            <a:endParaRPr lang="en-GB" sz="1700"/>
          </a:p>
        </p:txBody>
      </p:sp>
      <p:sp>
        <p:nvSpPr>
          <p:cNvPr id="4" name="TextBox 3">
            <a:extLst>
              <a:ext uri="{FF2B5EF4-FFF2-40B4-BE49-F238E27FC236}">
                <a16:creationId xmlns:a16="http://schemas.microsoft.com/office/drawing/2014/main" id="{A1253FD4-5B18-2321-16A1-9B6EC5A3BCB0}"/>
              </a:ext>
            </a:extLst>
          </p:cNvPr>
          <p:cNvSpPr txBox="1"/>
          <p:nvPr/>
        </p:nvSpPr>
        <p:spPr>
          <a:xfrm>
            <a:off x="1342621" y="5421116"/>
            <a:ext cx="2640466" cy="246221"/>
          </a:xfrm>
          <a:prstGeom prst="rect">
            <a:avLst/>
          </a:prstGeom>
          <a:noFill/>
        </p:spPr>
        <p:txBody>
          <a:bodyPr wrap="none" rtlCol="0">
            <a:spAutoFit/>
          </a:bodyPr>
          <a:lstStyle/>
          <a:p>
            <a:r>
              <a:rPr lang="en-GB" sz="1000" dirty="0"/>
              <a:t>Figure 1: diagram of basic block of a CNN</a:t>
            </a:r>
          </a:p>
        </p:txBody>
      </p:sp>
    </p:spTree>
    <p:extLst>
      <p:ext uri="{BB962C8B-B14F-4D97-AF65-F5344CB8AC3E}">
        <p14:creationId xmlns:p14="http://schemas.microsoft.com/office/powerpoint/2010/main" val="38508545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72AA3712-C5CA-A663-E80E-253CE0930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598326-99E5-B391-92EC-A05252EFFEB6}"/>
              </a:ext>
            </a:extLst>
          </p:cNvPr>
          <p:cNvSpPr>
            <a:spLocks noGrp="1"/>
          </p:cNvSpPr>
          <p:nvPr>
            <p:ph type="title"/>
          </p:nvPr>
        </p:nvSpPr>
        <p:spPr>
          <a:xfrm>
            <a:off x="1066800" y="1142999"/>
            <a:ext cx="6096000" cy="1257299"/>
          </a:xfrm>
        </p:spPr>
        <p:txBody>
          <a:bodyPr anchor="ctr">
            <a:normAutofit/>
          </a:bodyPr>
          <a:lstStyle/>
          <a:p>
            <a:r>
              <a:rPr lang="en-GB" dirty="0"/>
              <a:t>Residual Networks (</a:t>
            </a:r>
            <a:r>
              <a:rPr lang="en-GB" dirty="0" err="1"/>
              <a:t>ResNets</a:t>
            </a:r>
            <a:r>
              <a:rPr lang="en-GB" dirty="0"/>
              <a:t>)</a:t>
            </a:r>
          </a:p>
        </p:txBody>
      </p:sp>
      <p:sp>
        <p:nvSpPr>
          <p:cNvPr id="9" name="Content Placeholder 8">
            <a:extLst>
              <a:ext uri="{FF2B5EF4-FFF2-40B4-BE49-F238E27FC236}">
                <a16:creationId xmlns:a16="http://schemas.microsoft.com/office/drawing/2014/main" id="{4798281B-B0F7-1E76-5B60-0EBC75467AC9}"/>
              </a:ext>
            </a:extLst>
          </p:cNvPr>
          <p:cNvSpPr>
            <a:spLocks noGrp="1"/>
          </p:cNvSpPr>
          <p:nvPr>
            <p:ph idx="1"/>
          </p:nvPr>
        </p:nvSpPr>
        <p:spPr>
          <a:xfrm>
            <a:off x="1066797" y="2736850"/>
            <a:ext cx="5138060" cy="2978152"/>
          </a:xfrm>
        </p:spPr>
        <p:txBody>
          <a:bodyPr>
            <a:normAutofit/>
          </a:bodyPr>
          <a:lstStyle/>
          <a:p>
            <a:pPr>
              <a:lnSpc>
                <a:spcPct val="110000"/>
              </a:lnSpc>
            </a:pPr>
            <a:r>
              <a:rPr lang="en-GB" sz="1500" dirty="0"/>
              <a:t>Adding more layers should improve performance — in practice it makes it worse, even on the data the model was trained on</a:t>
            </a:r>
          </a:p>
          <a:p>
            <a:pPr>
              <a:lnSpc>
                <a:spcPct val="110000"/>
              </a:lnSpc>
            </a:pPr>
            <a:r>
              <a:rPr lang="en-GB" sz="1500" dirty="0" err="1"/>
              <a:t>ResNets</a:t>
            </a:r>
            <a:r>
              <a:rPr lang="en-GB" sz="1500" dirty="0"/>
              <a:t> fix this by letting the input skip over each block and rejoin the output — so layers only learn small adjustments rather than everything from scratch</a:t>
            </a:r>
          </a:p>
          <a:p>
            <a:pPr>
              <a:lnSpc>
                <a:spcPct val="110000"/>
              </a:lnSpc>
            </a:pPr>
            <a:r>
              <a:rPr lang="en-GB" sz="1500" dirty="0"/>
              <a:t>This keeps gradients flowing back through the network and unlocks training at much greater depths</a:t>
            </a:r>
            <a:endParaRPr lang="en-US" sz="1500" dirty="0"/>
          </a:p>
        </p:txBody>
      </p:sp>
      <p:pic>
        <p:nvPicPr>
          <p:cNvPr id="5" name="Content Placeholder 4">
            <a:extLst>
              <a:ext uri="{FF2B5EF4-FFF2-40B4-BE49-F238E27FC236}">
                <a16:creationId xmlns:a16="http://schemas.microsoft.com/office/drawing/2014/main" id="{AA27B6B3-B671-435D-81AA-B6580E874384}"/>
              </a:ext>
            </a:extLst>
          </p:cNvPr>
          <p:cNvPicPr>
            <a:picLocks noChangeAspect="1"/>
          </p:cNvPicPr>
          <p:nvPr/>
        </p:nvPicPr>
        <p:blipFill>
          <a:blip r:embed="rId3"/>
          <a:stretch>
            <a:fillRect/>
          </a:stretch>
        </p:blipFill>
        <p:spPr>
          <a:xfrm>
            <a:off x="6096000" y="1950582"/>
            <a:ext cx="4953000" cy="2922716"/>
          </a:xfrm>
          <a:prstGeom prst="rect">
            <a:avLst/>
          </a:prstGeom>
        </p:spPr>
      </p:pic>
      <p:sp>
        <p:nvSpPr>
          <p:cNvPr id="3" name="TextBox 2">
            <a:extLst>
              <a:ext uri="{FF2B5EF4-FFF2-40B4-BE49-F238E27FC236}">
                <a16:creationId xmlns:a16="http://schemas.microsoft.com/office/drawing/2014/main" id="{42E92C72-6BB7-DFF3-5142-0590AC881955}"/>
              </a:ext>
            </a:extLst>
          </p:cNvPr>
          <p:cNvSpPr txBox="1"/>
          <p:nvPr/>
        </p:nvSpPr>
        <p:spPr>
          <a:xfrm>
            <a:off x="6777778" y="4924818"/>
            <a:ext cx="3589444" cy="246221"/>
          </a:xfrm>
          <a:prstGeom prst="rect">
            <a:avLst/>
          </a:prstGeom>
          <a:noFill/>
        </p:spPr>
        <p:txBody>
          <a:bodyPr wrap="none" rtlCol="0">
            <a:spAutoFit/>
          </a:bodyPr>
          <a:lstStyle/>
          <a:p>
            <a:r>
              <a:rPr lang="en-GB" sz="1000" dirty="0"/>
              <a:t>Figure 2: diagram of </a:t>
            </a:r>
            <a:r>
              <a:rPr lang="en-GB" sz="1000" dirty="0" err="1"/>
              <a:t>ResNet</a:t>
            </a:r>
            <a:r>
              <a:rPr lang="en-GB" sz="1000" dirty="0"/>
              <a:t> basic block (He et al. 2015)</a:t>
            </a:r>
          </a:p>
        </p:txBody>
      </p:sp>
    </p:spTree>
    <p:extLst>
      <p:ext uri="{BB962C8B-B14F-4D97-AF65-F5344CB8AC3E}">
        <p14:creationId xmlns:p14="http://schemas.microsoft.com/office/powerpoint/2010/main" val="15567936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5B5FA1DC-0DF8-38C3-C578-DD09E896AA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40D7CFC-7721-7C1C-A3D9-DC0542EB90C0}"/>
              </a:ext>
            </a:extLst>
          </p:cNvPr>
          <p:cNvSpPr>
            <a:spLocks noGrp="1"/>
          </p:cNvSpPr>
          <p:nvPr>
            <p:ph type="title"/>
          </p:nvPr>
        </p:nvSpPr>
        <p:spPr>
          <a:xfrm>
            <a:off x="6096000" y="1142999"/>
            <a:ext cx="4933950" cy="1257299"/>
          </a:xfrm>
        </p:spPr>
        <p:txBody>
          <a:bodyPr anchor="ctr">
            <a:normAutofit/>
          </a:bodyPr>
          <a:lstStyle/>
          <a:p>
            <a:r>
              <a:rPr lang="en-GB" dirty="0"/>
              <a:t>Attention mechanisms</a:t>
            </a:r>
          </a:p>
        </p:txBody>
      </p:sp>
      <p:pic>
        <p:nvPicPr>
          <p:cNvPr id="8" name="Picture 7">
            <a:extLst>
              <a:ext uri="{FF2B5EF4-FFF2-40B4-BE49-F238E27FC236}">
                <a16:creationId xmlns:a16="http://schemas.microsoft.com/office/drawing/2014/main" id="{F5E6267F-D752-523D-6CEC-D71F8DC38975}"/>
              </a:ext>
            </a:extLst>
          </p:cNvPr>
          <p:cNvPicPr>
            <a:picLocks noChangeAspect="1"/>
          </p:cNvPicPr>
          <p:nvPr/>
        </p:nvPicPr>
        <p:blipFill>
          <a:blip r:embed="rId3"/>
          <a:stretch>
            <a:fillRect/>
          </a:stretch>
        </p:blipFill>
        <p:spPr>
          <a:xfrm>
            <a:off x="620486" y="2968627"/>
            <a:ext cx="5029203" cy="1257299"/>
          </a:xfrm>
          <a:prstGeom prst="rect">
            <a:avLst/>
          </a:prstGeom>
        </p:spPr>
      </p:pic>
      <p:pic>
        <p:nvPicPr>
          <p:cNvPr id="7" name="Picture 6">
            <a:extLst>
              <a:ext uri="{FF2B5EF4-FFF2-40B4-BE49-F238E27FC236}">
                <a16:creationId xmlns:a16="http://schemas.microsoft.com/office/drawing/2014/main" id="{726CD9EF-C12E-938D-DBC9-DDC89F4744B7}"/>
              </a:ext>
            </a:extLst>
          </p:cNvPr>
          <p:cNvPicPr>
            <a:picLocks noChangeAspect="1"/>
          </p:cNvPicPr>
          <p:nvPr/>
        </p:nvPicPr>
        <p:blipFill>
          <a:blip r:embed="rId4"/>
          <a:stretch>
            <a:fillRect/>
          </a:stretch>
        </p:blipFill>
        <p:spPr>
          <a:xfrm>
            <a:off x="973565" y="502446"/>
            <a:ext cx="4148870" cy="2157411"/>
          </a:xfrm>
          <a:prstGeom prst="rect">
            <a:avLst/>
          </a:prstGeom>
        </p:spPr>
      </p:pic>
      <p:pic>
        <p:nvPicPr>
          <p:cNvPr id="9" name="Picture 8">
            <a:extLst>
              <a:ext uri="{FF2B5EF4-FFF2-40B4-BE49-F238E27FC236}">
                <a16:creationId xmlns:a16="http://schemas.microsoft.com/office/drawing/2014/main" id="{6801E871-F618-AAE2-8BE8-228183886FB0}"/>
              </a:ext>
            </a:extLst>
          </p:cNvPr>
          <p:cNvPicPr>
            <a:picLocks noChangeAspect="1"/>
          </p:cNvPicPr>
          <p:nvPr/>
        </p:nvPicPr>
        <p:blipFill>
          <a:blip r:embed="rId5"/>
          <a:stretch>
            <a:fillRect/>
          </a:stretch>
        </p:blipFill>
        <p:spPr>
          <a:xfrm>
            <a:off x="445213" y="4740275"/>
            <a:ext cx="5650787" cy="1257299"/>
          </a:xfrm>
          <a:prstGeom prst="rect">
            <a:avLst/>
          </a:prstGeom>
        </p:spPr>
      </p:pic>
      <p:sp>
        <p:nvSpPr>
          <p:cNvPr id="3" name="Content Placeholder 2">
            <a:extLst>
              <a:ext uri="{FF2B5EF4-FFF2-40B4-BE49-F238E27FC236}">
                <a16:creationId xmlns:a16="http://schemas.microsoft.com/office/drawing/2014/main" id="{7960061C-4B6D-A246-E512-2DDDB6467B86}"/>
              </a:ext>
            </a:extLst>
          </p:cNvPr>
          <p:cNvSpPr>
            <a:spLocks noGrp="1"/>
          </p:cNvSpPr>
          <p:nvPr>
            <p:ph idx="1"/>
          </p:nvPr>
        </p:nvSpPr>
        <p:spPr>
          <a:xfrm>
            <a:off x="6258592" y="2307771"/>
            <a:ext cx="4771358" cy="3070679"/>
          </a:xfrm>
        </p:spPr>
        <p:txBody>
          <a:bodyPr>
            <a:normAutofit fontScale="85000" lnSpcReduction="20000"/>
          </a:bodyPr>
          <a:lstStyle/>
          <a:p>
            <a:pPr>
              <a:lnSpc>
                <a:spcPct val="110000"/>
              </a:lnSpc>
            </a:pPr>
            <a:endParaRPr lang="en-GB" sz="1500" b="1" dirty="0"/>
          </a:p>
          <a:p>
            <a:pPr>
              <a:lnSpc>
                <a:spcPct val="110000"/>
              </a:lnSpc>
            </a:pPr>
            <a:r>
              <a:rPr lang="en-GB" sz="1500" b="1" dirty="0"/>
              <a:t>Channel: </a:t>
            </a:r>
            <a:r>
              <a:rPr lang="en-GB" sz="1500" i="1" dirty="0"/>
              <a:t>what </a:t>
            </a:r>
            <a:r>
              <a:rPr lang="en-GB" sz="1500" dirty="0"/>
              <a:t>is important (weights channels)</a:t>
            </a:r>
          </a:p>
          <a:p>
            <a:pPr>
              <a:lnSpc>
                <a:spcPct val="110000"/>
              </a:lnSpc>
            </a:pPr>
            <a:r>
              <a:rPr lang="en-GB" sz="1500" b="1" dirty="0"/>
              <a:t>Spatial</a:t>
            </a:r>
            <a:r>
              <a:rPr lang="en-GB" sz="1500" dirty="0"/>
              <a:t>: </a:t>
            </a:r>
            <a:r>
              <a:rPr lang="en-GB" sz="1500" i="1" dirty="0"/>
              <a:t>where</a:t>
            </a:r>
            <a:r>
              <a:rPr lang="en-GB" sz="1500" dirty="0"/>
              <a:t> is important (weights regions)</a:t>
            </a:r>
            <a:endParaRPr lang="en-GB" sz="1500" b="1" dirty="0"/>
          </a:p>
          <a:p>
            <a:pPr>
              <a:lnSpc>
                <a:spcPct val="110000"/>
              </a:lnSpc>
            </a:pPr>
            <a:r>
              <a:rPr lang="en-GB" sz="1500" b="1" dirty="0"/>
              <a:t>End placement</a:t>
            </a:r>
            <a:r>
              <a:rPr lang="en-GB" sz="1500" dirty="0"/>
              <a:t>: inserted before the final average pooling layer, operates on the complete feature map once</a:t>
            </a:r>
          </a:p>
          <a:p>
            <a:pPr>
              <a:lnSpc>
                <a:spcPct val="110000"/>
              </a:lnSpc>
            </a:pPr>
            <a:r>
              <a:rPr lang="en-GB" sz="1500" b="1" dirty="0"/>
              <a:t>Block-level pre-shortcut</a:t>
            </a:r>
            <a:r>
              <a:rPr lang="en-GB" sz="1500" dirty="0"/>
              <a:t>: inserted inside every residual block, after the convolutions but before the skip connection rejoins — gates only what the convolutions learned</a:t>
            </a:r>
          </a:p>
          <a:p>
            <a:pPr>
              <a:lnSpc>
                <a:spcPct val="110000"/>
              </a:lnSpc>
            </a:pPr>
            <a:r>
              <a:rPr lang="en-GB" sz="1500" b="1" dirty="0"/>
              <a:t>Block-level post-shortcut</a:t>
            </a:r>
            <a:r>
              <a:rPr lang="en-GB" sz="1500" dirty="0"/>
              <a:t>: same position but after the skip connection has been added back, gates the fully merged signal</a:t>
            </a:r>
          </a:p>
        </p:txBody>
      </p:sp>
      <p:sp>
        <p:nvSpPr>
          <p:cNvPr id="4" name="TextBox 3">
            <a:extLst>
              <a:ext uri="{FF2B5EF4-FFF2-40B4-BE49-F238E27FC236}">
                <a16:creationId xmlns:a16="http://schemas.microsoft.com/office/drawing/2014/main" id="{551CBA51-260D-E920-72AE-546CC1848B12}"/>
              </a:ext>
            </a:extLst>
          </p:cNvPr>
          <p:cNvSpPr txBox="1"/>
          <p:nvPr/>
        </p:nvSpPr>
        <p:spPr>
          <a:xfrm>
            <a:off x="973565" y="2659857"/>
            <a:ext cx="4826962" cy="246221"/>
          </a:xfrm>
          <a:prstGeom prst="rect">
            <a:avLst/>
          </a:prstGeom>
          <a:noFill/>
        </p:spPr>
        <p:txBody>
          <a:bodyPr wrap="none" rtlCol="0">
            <a:spAutoFit/>
          </a:bodyPr>
          <a:lstStyle/>
          <a:p>
            <a:r>
              <a:rPr lang="en-GB" sz="1000" dirty="0"/>
              <a:t>Figure 3: diagram of channel and spatial attention modules (Woo et al. 2018)</a:t>
            </a:r>
          </a:p>
        </p:txBody>
      </p:sp>
      <p:sp>
        <p:nvSpPr>
          <p:cNvPr id="5" name="TextBox 4">
            <a:extLst>
              <a:ext uri="{FF2B5EF4-FFF2-40B4-BE49-F238E27FC236}">
                <a16:creationId xmlns:a16="http://schemas.microsoft.com/office/drawing/2014/main" id="{91C4024E-64A4-3C69-D199-E9C3C80B7882}"/>
              </a:ext>
            </a:extLst>
          </p:cNvPr>
          <p:cNvSpPr txBox="1"/>
          <p:nvPr/>
        </p:nvSpPr>
        <p:spPr>
          <a:xfrm>
            <a:off x="973565" y="4225926"/>
            <a:ext cx="3155031" cy="246221"/>
          </a:xfrm>
          <a:prstGeom prst="rect">
            <a:avLst/>
          </a:prstGeom>
          <a:noFill/>
        </p:spPr>
        <p:txBody>
          <a:bodyPr wrap="none" rtlCol="0">
            <a:spAutoFit/>
          </a:bodyPr>
          <a:lstStyle/>
          <a:p>
            <a:r>
              <a:rPr lang="en-GB" sz="1000" dirty="0"/>
              <a:t>Figure 4: diagram CBAM module (Woo et al. 2018)</a:t>
            </a:r>
          </a:p>
        </p:txBody>
      </p:sp>
      <p:sp>
        <p:nvSpPr>
          <p:cNvPr id="6" name="TextBox 5">
            <a:extLst>
              <a:ext uri="{FF2B5EF4-FFF2-40B4-BE49-F238E27FC236}">
                <a16:creationId xmlns:a16="http://schemas.microsoft.com/office/drawing/2014/main" id="{73209F7C-6003-643B-414F-206FF26A2FB2}"/>
              </a:ext>
            </a:extLst>
          </p:cNvPr>
          <p:cNvSpPr txBox="1"/>
          <p:nvPr/>
        </p:nvSpPr>
        <p:spPr>
          <a:xfrm>
            <a:off x="973565" y="5997574"/>
            <a:ext cx="3674404" cy="246221"/>
          </a:xfrm>
          <a:prstGeom prst="rect">
            <a:avLst/>
          </a:prstGeom>
          <a:noFill/>
        </p:spPr>
        <p:txBody>
          <a:bodyPr wrap="none" rtlCol="0">
            <a:spAutoFit/>
          </a:bodyPr>
          <a:lstStyle/>
          <a:p>
            <a:r>
              <a:rPr lang="en-GB" sz="1000" dirty="0"/>
              <a:t>Figure 5: diagram Squee-Excitation block (Hu et al. 2019) </a:t>
            </a:r>
          </a:p>
        </p:txBody>
      </p:sp>
    </p:spTree>
    <p:extLst>
      <p:ext uri="{BB962C8B-B14F-4D97-AF65-F5344CB8AC3E}">
        <p14:creationId xmlns:p14="http://schemas.microsoft.com/office/powerpoint/2010/main" val="10984522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2AA3712-C5CA-A663-E80E-253CE0930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0A560AC-03CA-894E-BC80-A5A024A68400}"/>
              </a:ext>
            </a:extLst>
          </p:cNvPr>
          <p:cNvSpPr>
            <a:spLocks noGrp="1"/>
          </p:cNvSpPr>
          <p:nvPr>
            <p:ph type="title"/>
          </p:nvPr>
        </p:nvSpPr>
        <p:spPr>
          <a:xfrm>
            <a:off x="1066800" y="1142999"/>
            <a:ext cx="4173416" cy="1257299"/>
          </a:xfrm>
        </p:spPr>
        <p:txBody>
          <a:bodyPr anchor="ctr">
            <a:normAutofit/>
          </a:bodyPr>
          <a:lstStyle/>
          <a:p>
            <a:r>
              <a:rPr lang="en-GB" dirty="0"/>
              <a:t>Metric Learning</a:t>
            </a:r>
          </a:p>
        </p:txBody>
      </p:sp>
      <p:sp>
        <p:nvSpPr>
          <p:cNvPr id="3" name="Content Placeholder 2">
            <a:extLst>
              <a:ext uri="{FF2B5EF4-FFF2-40B4-BE49-F238E27FC236}">
                <a16:creationId xmlns:a16="http://schemas.microsoft.com/office/drawing/2014/main" id="{4E23EF51-B5FB-AB23-1A45-885237A19A54}"/>
              </a:ext>
            </a:extLst>
          </p:cNvPr>
          <p:cNvSpPr>
            <a:spLocks noGrp="1"/>
          </p:cNvSpPr>
          <p:nvPr>
            <p:ph idx="1"/>
          </p:nvPr>
        </p:nvSpPr>
        <p:spPr>
          <a:xfrm>
            <a:off x="1066797" y="2736850"/>
            <a:ext cx="4173415" cy="2978152"/>
          </a:xfrm>
        </p:spPr>
        <p:txBody>
          <a:bodyPr>
            <a:normAutofit/>
          </a:bodyPr>
          <a:lstStyle/>
          <a:p>
            <a:pPr>
              <a:lnSpc>
                <a:spcPct val="110000"/>
              </a:lnSpc>
            </a:pPr>
            <a:r>
              <a:rPr lang="en-GB" sz="1300" dirty="0"/>
              <a:t>Standard classifiers learn to separate classes — but don't explicitly structure the embedding space by similarity</a:t>
            </a:r>
          </a:p>
          <a:p>
            <a:pPr>
              <a:lnSpc>
                <a:spcPct val="110000"/>
              </a:lnSpc>
            </a:pPr>
            <a:r>
              <a:rPr lang="en-GB" sz="1300" dirty="0"/>
              <a:t>Metric learning restructures that space so similar samples cluster together and dissimilar ones are pushed apart</a:t>
            </a:r>
          </a:p>
          <a:p>
            <a:pPr>
              <a:lnSpc>
                <a:spcPct val="110000"/>
              </a:lnSpc>
            </a:pPr>
            <a:r>
              <a:rPr lang="en-GB" sz="1300" dirty="0"/>
              <a:t>NCA learns a linear projection of the embedding space that maximises </a:t>
            </a:r>
            <a:r>
              <a:rPr lang="en-GB" sz="1300" dirty="0" err="1"/>
              <a:t>kNN</a:t>
            </a:r>
            <a:r>
              <a:rPr lang="en-GB" sz="1300" dirty="0"/>
              <a:t> classification accuracy</a:t>
            </a:r>
          </a:p>
          <a:p>
            <a:pPr>
              <a:lnSpc>
                <a:spcPct val="110000"/>
              </a:lnSpc>
            </a:pPr>
            <a:r>
              <a:rPr lang="en-GB" sz="1300" dirty="0"/>
              <a:t>Applied post-hoc to frozen backbone embeddings — no retraining required</a:t>
            </a:r>
          </a:p>
        </p:txBody>
      </p:sp>
      <p:pic>
        <p:nvPicPr>
          <p:cNvPr id="5" name="Graphic 4">
            <a:extLst>
              <a:ext uri="{FF2B5EF4-FFF2-40B4-BE49-F238E27FC236}">
                <a16:creationId xmlns:a16="http://schemas.microsoft.com/office/drawing/2014/main" id="{FDE067AD-76D3-243F-8804-767DE338FC8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96000" y="1643012"/>
            <a:ext cx="4953000" cy="3537857"/>
          </a:xfrm>
          <a:prstGeom prst="rect">
            <a:avLst/>
          </a:prstGeom>
        </p:spPr>
      </p:pic>
      <p:sp>
        <p:nvSpPr>
          <p:cNvPr id="4" name="TextBox 3">
            <a:extLst>
              <a:ext uri="{FF2B5EF4-FFF2-40B4-BE49-F238E27FC236}">
                <a16:creationId xmlns:a16="http://schemas.microsoft.com/office/drawing/2014/main" id="{F42975D4-351F-CD98-972E-2A19D5810FDF}"/>
              </a:ext>
            </a:extLst>
          </p:cNvPr>
          <p:cNvSpPr txBox="1"/>
          <p:nvPr/>
        </p:nvSpPr>
        <p:spPr>
          <a:xfrm>
            <a:off x="6951790" y="5091877"/>
            <a:ext cx="3023585" cy="246221"/>
          </a:xfrm>
          <a:prstGeom prst="rect">
            <a:avLst/>
          </a:prstGeom>
          <a:noFill/>
        </p:spPr>
        <p:txBody>
          <a:bodyPr wrap="none" rtlCol="0">
            <a:spAutoFit/>
          </a:bodyPr>
          <a:lstStyle/>
          <a:p>
            <a:r>
              <a:rPr lang="en-GB" sz="1000" dirty="0"/>
              <a:t>Figure 6: diagram of </a:t>
            </a:r>
            <a:r>
              <a:rPr lang="en-GB" sz="1000" dirty="0" err="1"/>
              <a:t>kNN</a:t>
            </a:r>
            <a:r>
              <a:rPr lang="en-GB" sz="1000" dirty="0"/>
              <a:t> classification with k=3</a:t>
            </a:r>
          </a:p>
        </p:txBody>
      </p:sp>
    </p:spTree>
    <p:extLst>
      <p:ext uri="{BB962C8B-B14F-4D97-AF65-F5344CB8AC3E}">
        <p14:creationId xmlns:p14="http://schemas.microsoft.com/office/powerpoint/2010/main" val="10633809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067AA-0CC4-1DD7-EC4E-04FC973C72FA}"/>
              </a:ext>
            </a:extLst>
          </p:cNvPr>
          <p:cNvSpPr>
            <a:spLocks noGrp="1"/>
          </p:cNvSpPr>
          <p:nvPr>
            <p:ph type="title"/>
          </p:nvPr>
        </p:nvSpPr>
        <p:spPr/>
        <p:txBody>
          <a:bodyPr/>
          <a:lstStyle/>
          <a:p>
            <a:r>
              <a:rPr lang="en-GB" dirty="0"/>
              <a:t>Vision Transformers</a:t>
            </a:r>
          </a:p>
        </p:txBody>
      </p:sp>
      <p:sp>
        <p:nvSpPr>
          <p:cNvPr id="3" name="Content Placeholder 2">
            <a:extLst>
              <a:ext uri="{FF2B5EF4-FFF2-40B4-BE49-F238E27FC236}">
                <a16:creationId xmlns:a16="http://schemas.microsoft.com/office/drawing/2014/main" id="{5E486AB2-756B-3C9F-0B85-650050D57FFD}"/>
              </a:ext>
            </a:extLst>
          </p:cNvPr>
          <p:cNvSpPr>
            <a:spLocks noGrp="1"/>
          </p:cNvSpPr>
          <p:nvPr>
            <p:ph idx="1"/>
          </p:nvPr>
        </p:nvSpPr>
        <p:spPr/>
        <p:txBody>
          <a:bodyPr/>
          <a:lstStyle/>
          <a:p>
            <a:r>
              <a:rPr lang="en-GB" dirty="0"/>
              <a:t>Transformers process sequences — </a:t>
            </a:r>
            <a:r>
              <a:rPr lang="en-GB" dirty="0" err="1"/>
              <a:t>ViTs</a:t>
            </a:r>
            <a:r>
              <a:rPr lang="en-GB" dirty="0"/>
              <a:t> adapt this to images by splitting them into fixed patches, embedding each as a token, and processing the sequence with self-attention</a:t>
            </a:r>
          </a:p>
          <a:p>
            <a:r>
              <a:rPr lang="en-GB" dirty="0"/>
              <a:t>Self-attention computes relationships between all tokens simultaneously — captures long-range dependencies that CNNs cannot</a:t>
            </a:r>
          </a:p>
          <a:p>
            <a:r>
              <a:rPr lang="en-GB" dirty="0"/>
              <a:t>Cost: </a:t>
            </a:r>
            <a:r>
              <a:rPr lang="en-GB" dirty="0" err="1"/>
              <a:t>ViTs</a:t>
            </a:r>
            <a:r>
              <a:rPr lang="en-GB" dirty="0"/>
              <a:t> are data-hungry — without the inductive biases of convolutions, they need far more examples to learn effective representations</a:t>
            </a:r>
          </a:p>
        </p:txBody>
      </p:sp>
    </p:spTree>
    <p:extLst>
      <p:ext uri="{BB962C8B-B14F-4D97-AF65-F5344CB8AC3E}">
        <p14:creationId xmlns:p14="http://schemas.microsoft.com/office/powerpoint/2010/main" val="9981857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7E259EAA-3827-BEFD-3AE5-26669D20B4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0871FB-8D5F-D5BF-E192-3228E54CF532}"/>
              </a:ext>
            </a:extLst>
          </p:cNvPr>
          <p:cNvSpPr>
            <a:spLocks noGrp="1"/>
          </p:cNvSpPr>
          <p:nvPr>
            <p:ph type="title"/>
          </p:nvPr>
        </p:nvSpPr>
        <p:spPr>
          <a:xfrm>
            <a:off x="1066800" y="4061012"/>
            <a:ext cx="5114981" cy="1922929"/>
          </a:xfrm>
        </p:spPr>
        <p:txBody>
          <a:bodyPr anchor="ctr">
            <a:normAutofit/>
          </a:bodyPr>
          <a:lstStyle/>
          <a:p>
            <a:pPr algn="r"/>
            <a:r>
              <a:rPr lang="en-GB" sz="4800"/>
              <a:t>Dataset &amp; Setup</a:t>
            </a:r>
          </a:p>
        </p:txBody>
      </p:sp>
      <p:pic>
        <p:nvPicPr>
          <p:cNvPr id="8" name="Picture 7">
            <a:extLst>
              <a:ext uri="{FF2B5EF4-FFF2-40B4-BE49-F238E27FC236}">
                <a16:creationId xmlns:a16="http://schemas.microsoft.com/office/drawing/2014/main" id="{6A8E1CC7-678A-254A-3F7A-7E26F1538C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 y="1200078"/>
            <a:ext cx="2455442" cy="2758923"/>
          </a:xfrm>
          <a:prstGeom prst="rect">
            <a:avLst/>
          </a:prstGeom>
        </p:spPr>
      </p:pic>
      <p:pic>
        <p:nvPicPr>
          <p:cNvPr id="6" name="Picture 5">
            <a:extLst>
              <a:ext uri="{FF2B5EF4-FFF2-40B4-BE49-F238E27FC236}">
                <a16:creationId xmlns:a16="http://schemas.microsoft.com/office/drawing/2014/main" id="{6DDE89F4-A1E4-2C17-310E-E20DA597D6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6040" y="1200079"/>
            <a:ext cx="2489929" cy="2758924"/>
          </a:xfrm>
          <a:prstGeom prst="rect">
            <a:avLst/>
          </a:prstGeom>
        </p:spPr>
      </p:pic>
      <p:sp>
        <p:nvSpPr>
          <p:cNvPr id="3" name="Content Placeholder 2">
            <a:extLst>
              <a:ext uri="{FF2B5EF4-FFF2-40B4-BE49-F238E27FC236}">
                <a16:creationId xmlns:a16="http://schemas.microsoft.com/office/drawing/2014/main" id="{4406D484-1495-49A2-58B3-264E09FACEA8}"/>
              </a:ext>
            </a:extLst>
          </p:cNvPr>
          <p:cNvSpPr>
            <a:spLocks noGrp="1"/>
          </p:cNvSpPr>
          <p:nvPr>
            <p:ph idx="1"/>
          </p:nvPr>
        </p:nvSpPr>
        <p:spPr>
          <a:xfrm>
            <a:off x="7239000" y="1144369"/>
            <a:ext cx="3810000" cy="4570630"/>
          </a:xfrm>
        </p:spPr>
        <p:txBody>
          <a:bodyPr>
            <a:normAutofit/>
          </a:bodyPr>
          <a:lstStyle/>
          <a:p>
            <a:r>
              <a:rPr lang="en-GB" sz="1700" dirty="0"/>
              <a:t>1,652 axial FLAIR MRI slices from 131 patients — MS: 650, Control: 1,002</a:t>
            </a:r>
          </a:p>
          <a:p>
            <a:r>
              <a:rPr lang="en-GB" sz="1700" dirty="0"/>
              <a:t>Stratified 80/20 split → 1,321 </a:t>
            </a:r>
            <a:r>
              <a:rPr lang="en-GB" sz="1700" dirty="0" err="1"/>
              <a:t>train+val</a:t>
            </a:r>
            <a:r>
              <a:rPr lang="en-GB" sz="1700" dirty="0"/>
              <a:t>, 331 held-out test set aside at the outset</a:t>
            </a:r>
          </a:p>
          <a:p>
            <a:r>
              <a:rPr lang="en-GB" sz="1700" dirty="0"/>
              <a:t>5-fold cross-validation for model selection; all experiments CPU-only (Dell XPS 13, 16GB RAM)</a:t>
            </a:r>
          </a:p>
          <a:p>
            <a:r>
              <a:rPr lang="en-GB" sz="1700" dirty="0"/>
              <a:t>Conservative augmentation: horizontal flip + ±10° rotation only — preserves lesion spatial structure</a:t>
            </a:r>
          </a:p>
        </p:txBody>
      </p:sp>
      <p:sp>
        <p:nvSpPr>
          <p:cNvPr id="4" name="TextBox 3">
            <a:extLst>
              <a:ext uri="{FF2B5EF4-FFF2-40B4-BE49-F238E27FC236}">
                <a16:creationId xmlns:a16="http://schemas.microsoft.com/office/drawing/2014/main" id="{B57449B3-095B-92D1-51F1-7EB5A3936906}"/>
              </a:ext>
            </a:extLst>
          </p:cNvPr>
          <p:cNvSpPr txBox="1"/>
          <p:nvPr/>
        </p:nvSpPr>
        <p:spPr>
          <a:xfrm>
            <a:off x="919883" y="4061010"/>
            <a:ext cx="5399235" cy="246221"/>
          </a:xfrm>
          <a:prstGeom prst="rect">
            <a:avLst/>
          </a:prstGeom>
          <a:noFill/>
        </p:spPr>
        <p:txBody>
          <a:bodyPr wrap="none" rtlCol="0">
            <a:spAutoFit/>
          </a:bodyPr>
          <a:lstStyle/>
          <a:p>
            <a:r>
              <a:rPr lang="en-GB" sz="1000" dirty="0"/>
              <a:t>Image 2: MRI axial scans of MS positive and control patients, respectively (Kaggle 2022)</a:t>
            </a:r>
          </a:p>
        </p:txBody>
      </p:sp>
    </p:spTree>
    <p:extLst>
      <p:ext uri="{BB962C8B-B14F-4D97-AF65-F5344CB8AC3E}">
        <p14:creationId xmlns:p14="http://schemas.microsoft.com/office/powerpoint/2010/main" val="1555127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49561-BA12-51E9-7EE5-9B8DF8F0020C}"/>
              </a:ext>
            </a:extLst>
          </p:cNvPr>
          <p:cNvSpPr>
            <a:spLocks noGrp="1"/>
          </p:cNvSpPr>
          <p:nvPr>
            <p:ph type="title"/>
          </p:nvPr>
        </p:nvSpPr>
        <p:spPr/>
        <p:txBody>
          <a:bodyPr/>
          <a:lstStyle/>
          <a:p>
            <a:r>
              <a:rPr lang="en-GB" dirty="0"/>
              <a:t>Performance Metrics</a:t>
            </a:r>
          </a:p>
        </p:txBody>
      </p:sp>
      <p:sp>
        <p:nvSpPr>
          <p:cNvPr id="3" name="Content Placeholder 2">
            <a:extLst>
              <a:ext uri="{FF2B5EF4-FFF2-40B4-BE49-F238E27FC236}">
                <a16:creationId xmlns:a16="http://schemas.microsoft.com/office/drawing/2014/main" id="{D1273447-B826-90D7-2F9B-953386A4A4F8}"/>
              </a:ext>
            </a:extLst>
          </p:cNvPr>
          <p:cNvSpPr>
            <a:spLocks noGrp="1"/>
          </p:cNvSpPr>
          <p:nvPr>
            <p:ph idx="1"/>
          </p:nvPr>
        </p:nvSpPr>
        <p:spPr/>
        <p:txBody>
          <a:bodyPr>
            <a:normAutofit/>
          </a:bodyPr>
          <a:lstStyle/>
          <a:p>
            <a:r>
              <a:rPr lang="en-GB" dirty="0"/>
              <a:t>F1 score — primary metric; balances precision and recall, robust to class imbalance</a:t>
            </a:r>
          </a:p>
          <a:p>
            <a:r>
              <a:rPr lang="en-GB" dirty="0"/>
              <a:t>AUC-ROC — measures separability across all classification thresholds</a:t>
            </a:r>
          </a:p>
          <a:p>
            <a:r>
              <a:rPr lang="en-GB" dirty="0"/>
              <a:t>ECE (Expected Calibration Error) — measures how well predicted probabilities reflect true likelihood; lower is better</a:t>
            </a:r>
          </a:p>
          <a:p>
            <a:r>
              <a:rPr lang="en-GB" dirty="0"/>
              <a:t>Model fold selection: best mean validation F1 across folds</a:t>
            </a:r>
          </a:p>
          <a:p>
            <a:r>
              <a:rPr lang="en-GB" dirty="0"/>
              <a:t>Final evaluation: single run on held-out test set, used once after all model selection decisions made</a:t>
            </a:r>
          </a:p>
        </p:txBody>
      </p:sp>
    </p:spTree>
    <p:extLst>
      <p:ext uri="{BB962C8B-B14F-4D97-AF65-F5344CB8AC3E}">
        <p14:creationId xmlns:p14="http://schemas.microsoft.com/office/powerpoint/2010/main" val="41094457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17A56096-DC04-EC1A-2AA7-1D700DBCC9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77045F-31DC-B398-3499-6AEDB99A72D8}"/>
              </a:ext>
            </a:extLst>
          </p:cNvPr>
          <p:cNvSpPr>
            <a:spLocks noGrp="1"/>
          </p:cNvSpPr>
          <p:nvPr>
            <p:ph type="title"/>
          </p:nvPr>
        </p:nvSpPr>
        <p:spPr>
          <a:xfrm>
            <a:off x="1066799" y="4058529"/>
            <a:ext cx="4271933" cy="1824151"/>
          </a:xfrm>
        </p:spPr>
        <p:txBody>
          <a:bodyPr anchor="ctr">
            <a:normAutofit/>
          </a:bodyPr>
          <a:lstStyle/>
          <a:p>
            <a:r>
              <a:rPr lang="en-GB" dirty="0"/>
              <a:t>Two-Phase Transfer Learning</a:t>
            </a:r>
          </a:p>
        </p:txBody>
      </p:sp>
      <p:pic>
        <p:nvPicPr>
          <p:cNvPr id="6" name="Picture 5">
            <a:extLst>
              <a:ext uri="{FF2B5EF4-FFF2-40B4-BE49-F238E27FC236}">
                <a16:creationId xmlns:a16="http://schemas.microsoft.com/office/drawing/2014/main" id="{E87566B3-5B1E-4AC4-F6DF-6D65B689A1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2293" y="1199546"/>
            <a:ext cx="6000944" cy="2130335"/>
          </a:xfrm>
          <a:prstGeom prst="rect">
            <a:avLst/>
          </a:prstGeom>
        </p:spPr>
      </p:pic>
      <p:pic>
        <p:nvPicPr>
          <p:cNvPr id="8" name="Picture 7">
            <a:extLst>
              <a:ext uri="{FF2B5EF4-FFF2-40B4-BE49-F238E27FC236}">
                <a16:creationId xmlns:a16="http://schemas.microsoft.com/office/drawing/2014/main" id="{8175A151-1044-7473-C98A-18C880FC93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03237" y="1220259"/>
            <a:ext cx="5884258" cy="2088911"/>
          </a:xfrm>
          <a:prstGeom prst="rect">
            <a:avLst/>
          </a:prstGeom>
        </p:spPr>
      </p:pic>
      <p:sp>
        <p:nvSpPr>
          <p:cNvPr id="3" name="Content Placeholder 2">
            <a:extLst>
              <a:ext uri="{FF2B5EF4-FFF2-40B4-BE49-F238E27FC236}">
                <a16:creationId xmlns:a16="http://schemas.microsoft.com/office/drawing/2014/main" id="{B7940A11-F5B8-C074-8714-19435DC8919E}"/>
              </a:ext>
            </a:extLst>
          </p:cNvPr>
          <p:cNvSpPr>
            <a:spLocks noGrp="1"/>
          </p:cNvSpPr>
          <p:nvPr>
            <p:ph idx="1"/>
          </p:nvPr>
        </p:nvSpPr>
        <p:spPr>
          <a:xfrm>
            <a:off x="6114579" y="4007780"/>
            <a:ext cx="5029202" cy="1970988"/>
          </a:xfrm>
        </p:spPr>
        <p:txBody>
          <a:bodyPr anchor="ctr">
            <a:normAutofit/>
          </a:bodyPr>
          <a:lstStyle/>
          <a:p>
            <a:pPr>
              <a:lnSpc>
                <a:spcPct val="110000"/>
              </a:lnSpc>
            </a:pPr>
            <a:r>
              <a:rPr lang="en-GB" sz="1500" dirty="0"/>
              <a:t>Phase 1: backbone frozen — only classifier head and attention modules trained Phase 2: all parameters unfrozen — full fine-tuning at reduced LR with weight decay for regularisation</a:t>
            </a:r>
          </a:p>
          <a:p>
            <a:pPr>
              <a:lnSpc>
                <a:spcPct val="110000"/>
              </a:lnSpc>
            </a:pPr>
            <a:r>
              <a:rPr lang="en-GB" sz="1500" dirty="0"/>
              <a:t>Prevents randomly initialised attention modules from corrupting pretrained features before they've learned anything useful</a:t>
            </a:r>
          </a:p>
        </p:txBody>
      </p:sp>
      <p:sp>
        <p:nvSpPr>
          <p:cNvPr id="4" name="TextBox 3">
            <a:extLst>
              <a:ext uri="{FF2B5EF4-FFF2-40B4-BE49-F238E27FC236}">
                <a16:creationId xmlns:a16="http://schemas.microsoft.com/office/drawing/2014/main" id="{1F10B687-4291-E7A2-C346-7151CC69D2F0}"/>
              </a:ext>
            </a:extLst>
          </p:cNvPr>
          <p:cNvSpPr txBox="1"/>
          <p:nvPr/>
        </p:nvSpPr>
        <p:spPr>
          <a:xfrm>
            <a:off x="4781527" y="3324874"/>
            <a:ext cx="3248005" cy="246221"/>
          </a:xfrm>
          <a:prstGeom prst="rect">
            <a:avLst/>
          </a:prstGeom>
          <a:noFill/>
        </p:spPr>
        <p:txBody>
          <a:bodyPr wrap="none" rtlCol="0">
            <a:spAutoFit/>
          </a:bodyPr>
          <a:lstStyle/>
          <a:p>
            <a:r>
              <a:rPr lang="en-GB" sz="1000" dirty="0"/>
              <a:t>Figure 7: ResNet18 base training curves for fold 2/5</a:t>
            </a:r>
          </a:p>
        </p:txBody>
      </p:sp>
    </p:spTree>
    <p:extLst>
      <p:ext uri="{BB962C8B-B14F-4D97-AF65-F5344CB8AC3E}">
        <p14:creationId xmlns:p14="http://schemas.microsoft.com/office/powerpoint/2010/main" val="30529322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5B5FA1DC-0DF8-38C3-C578-DD09E896AA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9EC8283-D152-768B-8062-E762E19A3056}"/>
              </a:ext>
            </a:extLst>
          </p:cNvPr>
          <p:cNvSpPr>
            <a:spLocks noGrp="1"/>
          </p:cNvSpPr>
          <p:nvPr>
            <p:ph type="title"/>
          </p:nvPr>
        </p:nvSpPr>
        <p:spPr>
          <a:xfrm>
            <a:off x="2212880" y="96960"/>
            <a:ext cx="7766239" cy="1257299"/>
          </a:xfrm>
        </p:spPr>
        <p:txBody>
          <a:bodyPr anchor="ctr">
            <a:normAutofit/>
          </a:bodyPr>
          <a:lstStyle/>
          <a:p>
            <a:r>
              <a:rPr lang="en-GB" dirty="0"/>
              <a:t>Experimental Design Decisions</a:t>
            </a:r>
          </a:p>
        </p:txBody>
      </p:sp>
      <p:sp>
        <p:nvSpPr>
          <p:cNvPr id="3" name="Content Placeholder 2">
            <a:extLst>
              <a:ext uri="{FF2B5EF4-FFF2-40B4-BE49-F238E27FC236}">
                <a16:creationId xmlns:a16="http://schemas.microsoft.com/office/drawing/2014/main" id="{D6556D84-F5A4-F729-502F-4FF25AE405A5}"/>
              </a:ext>
            </a:extLst>
          </p:cNvPr>
          <p:cNvSpPr>
            <a:spLocks noGrp="1"/>
          </p:cNvSpPr>
          <p:nvPr>
            <p:ph idx="1"/>
          </p:nvPr>
        </p:nvSpPr>
        <p:spPr>
          <a:xfrm>
            <a:off x="6385293" y="1218793"/>
            <a:ext cx="4608765" cy="1039312"/>
          </a:xfrm>
        </p:spPr>
        <p:txBody>
          <a:bodyPr>
            <a:normAutofit/>
          </a:bodyPr>
          <a:lstStyle/>
          <a:p>
            <a:pPr>
              <a:lnSpc>
                <a:spcPct val="110000"/>
              </a:lnSpc>
            </a:pPr>
            <a:r>
              <a:rPr lang="en-GB" sz="1100" dirty="0"/>
              <a:t>Head ablation: linear probe vs MLP head tested before any attention variants trained</a:t>
            </a:r>
          </a:p>
          <a:p>
            <a:pPr lvl="1">
              <a:lnSpc>
                <a:spcPct val="110000"/>
              </a:lnSpc>
            </a:pPr>
            <a:r>
              <a:rPr lang="en-GB" sz="900" dirty="0"/>
              <a:t>Linear probe wins </a:t>
            </a:r>
          </a:p>
          <a:p>
            <a:pPr lvl="1">
              <a:lnSpc>
                <a:spcPct val="110000"/>
              </a:lnSpc>
            </a:pPr>
            <a:r>
              <a:rPr lang="en-GB" sz="900" dirty="0"/>
              <a:t>Adopted for all future experiments, eliminating head capacity as a confound</a:t>
            </a:r>
          </a:p>
        </p:txBody>
      </p:sp>
      <p:sp>
        <p:nvSpPr>
          <p:cNvPr id="4" name="TextBox 3">
            <a:extLst>
              <a:ext uri="{FF2B5EF4-FFF2-40B4-BE49-F238E27FC236}">
                <a16:creationId xmlns:a16="http://schemas.microsoft.com/office/drawing/2014/main" id="{E3397B44-9B90-273B-8A6F-E95C2C623771}"/>
              </a:ext>
            </a:extLst>
          </p:cNvPr>
          <p:cNvSpPr txBox="1"/>
          <p:nvPr/>
        </p:nvSpPr>
        <p:spPr>
          <a:xfrm>
            <a:off x="1682514" y="4547288"/>
            <a:ext cx="3382657" cy="246221"/>
          </a:xfrm>
          <a:prstGeom prst="rect">
            <a:avLst/>
          </a:prstGeom>
          <a:noFill/>
        </p:spPr>
        <p:txBody>
          <a:bodyPr wrap="none" rtlCol="0">
            <a:spAutoFit/>
          </a:bodyPr>
          <a:lstStyle/>
          <a:p>
            <a:r>
              <a:rPr lang="en-GB" sz="1000" dirty="0"/>
              <a:t>Figure 8: heatmap of ResNet18 phase 2 grid searches</a:t>
            </a:r>
          </a:p>
        </p:txBody>
      </p:sp>
      <p:sp>
        <p:nvSpPr>
          <p:cNvPr id="5" name="TextBox 4">
            <a:extLst>
              <a:ext uri="{FF2B5EF4-FFF2-40B4-BE49-F238E27FC236}">
                <a16:creationId xmlns:a16="http://schemas.microsoft.com/office/drawing/2014/main" id="{1B1ECAEC-3370-A5EA-EE72-5111C683C47A}"/>
              </a:ext>
            </a:extLst>
          </p:cNvPr>
          <p:cNvSpPr txBox="1"/>
          <p:nvPr/>
        </p:nvSpPr>
        <p:spPr>
          <a:xfrm>
            <a:off x="7469002" y="5966120"/>
            <a:ext cx="1890261" cy="246221"/>
          </a:xfrm>
          <a:prstGeom prst="rect">
            <a:avLst/>
          </a:prstGeom>
          <a:noFill/>
        </p:spPr>
        <p:txBody>
          <a:bodyPr wrap="none" rtlCol="0">
            <a:spAutoFit/>
          </a:bodyPr>
          <a:lstStyle/>
          <a:p>
            <a:r>
              <a:rPr lang="en-GB" sz="1000" dirty="0"/>
              <a:t>Figure 9: head ablation chart</a:t>
            </a:r>
          </a:p>
        </p:txBody>
      </p:sp>
      <p:pic>
        <p:nvPicPr>
          <p:cNvPr id="8" name="Graphic 7">
            <a:extLst>
              <a:ext uri="{FF2B5EF4-FFF2-40B4-BE49-F238E27FC236}">
                <a16:creationId xmlns:a16="http://schemas.microsoft.com/office/drawing/2014/main" id="{DA990A4A-223E-2533-A740-5F890A23591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21416" y="1102325"/>
            <a:ext cx="4756810" cy="3444963"/>
          </a:xfrm>
          <a:prstGeom prst="rect">
            <a:avLst/>
          </a:prstGeom>
        </p:spPr>
      </p:pic>
      <p:sp>
        <p:nvSpPr>
          <p:cNvPr id="9" name="Content Placeholder 2">
            <a:extLst>
              <a:ext uri="{FF2B5EF4-FFF2-40B4-BE49-F238E27FC236}">
                <a16:creationId xmlns:a16="http://schemas.microsoft.com/office/drawing/2014/main" id="{BC627A59-B930-F5DD-01FF-FD8F71042AE0}"/>
              </a:ext>
            </a:extLst>
          </p:cNvPr>
          <p:cNvSpPr txBox="1">
            <a:spLocks/>
          </p:cNvSpPr>
          <p:nvPr/>
        </p:nvSpPr>
        <p:spPr>
          <a:xfrm>
            <a:off x="1069461" y="4786169"/>
            <a:ext cx="4608765" cy="158052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548640" indent="-228600" algn="l" defTabSz="914400" rtl="0" eaLnBrk="1" latinLnBrk="0" hangingPunct="1">
              <a:lnSpc>
                <a:spcPct val="120000"/>
              </a:lnSpc>
              <a:spcBef>
                <a:spcPts val="500"/>
              </a:spcBef>
              <a:buFont typeface="Neue Haas Grotesk Text Pro" panose="020B0504020202020204" pitchFamily="34" charset="0"/>
              <a:buChar char="–"/>
              <a:defRPr sz="1600" kern="1200">
                <a:solidFill>
                  <a:schemeClr val="tx1"/>
                </a:solidFill>
                <a:latin typeface="+mn-lt"/>
                <a:ea typeface="+mn-ea"/>
                <a:cs typeface="+mn-cs"/>
              </a:defRPr>
            </a:lvl2pPr>
            <a:lvl3pPr marL="77724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Neue Haas Grotesk Text Pro" panose="020B0504020202020204" pitchFamily="34" charset="0"/>
              <a:buChar char="–"/>
              <a:defRPr sz="1200" kern="1200">
                <a:solidFill>
                  <a:schemeClr val="tx1"/>
                </a:solidFill>
                <a:latin typeface="+mn-lt"/>
                <a:ea typeface="+mn-ea"/>
                <a:cs typeface="+mn-cs"/>
              </a:defRPr>
            </a:lvl4pPr>
            <a:lvl5pPr marL="109728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pPr>
            <a:r>
              <a:rPr lang="en-GB" sz="1100" dirty="0"/>
              <a:t>Hyperparameters selected via 3-fold grid search on the plain ResNet18 baseline</a:t>
            </a:r>
          </a:p>
          <a:p>
            <a:pPr lvl="1">
              <a:lnSpc>
                <a:spcPct val="110000"/>
              </a:lnSpc>
            </a:pPr>
            <a:r>
              <a:rPr lang="en-GB" sz="1100" dirty="0"/>
              <a:t>Only searched Phase 2 Learning rate and weight decay</a:t>
            </a:r>
          </a:p>
          <a:p>
            <a:pPr lvl="1">
              <a:lnSpc>
                <a:spcPct val="110000"/>
              </a:lnSpc>
            </a:pPr>
            <a:r>
              <a:rPr lang="en-GB" sz="1100" dirty="0"/>
              <a:t>Phase 1 parameters performed well in pilot testing and as such were kept</a:t>
            </a:r>
          </a:p>
          <a:p>
            <a:pPr lvl="1">
              <a:lnSpc>
                <a:spcPct val="110000"/>
              </a:lnSpc>
            </a:pPr>
            <a:r>
              <a:rPr lang="en-GB" sz="900" dirty="0"/>
              <a:t>Grid search on baseline only — prevents architecture-specific tuning from confounding comparisons</a:t>
            </a:r>
          </a:p>
        </p:txBody>
      </p:sp>
      <p:pic>
        <p:nvPicPr>
          <p:cNvPr id="12" name="Graphic 11">
            <a:extLst>
              <a:ext uri="{FF2B5EF4-FFF2-40B4-BE49-F238E27FC236}">
                <a16:creationId xmlns:a16="http://schemas.microsoft.com/office/drawing/2014/main" id="{20499D4D-4E7C-98CA-C62B-2F41EF22AAA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91279" y="2190259"/>
            <a:ext cx="4011480" cy="3831740"/>
          </a:xfrm>
          <a:prstGeom prst="rect">
            <a:avLst/>
          </a:prstGeom>
        </p:spPr>
      </p:pic>
    </p:spTree>
    <p:extLst>
      <p:ext uri="{BB962C8B-B14F-4D97-AF65-F5344CB8AC3E}">
        <p14:creationId xmlns:p14="http://schemas.microsoft.com/office/powerpoint/2010/main" val="6112107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7E259EAA-3827-BEFD-3AE5-26669D20B4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026D558-9A10-3D5E-69D0-A50CEFB300D6}"/>
              </a:ext>
            </a:extLst>
          </p:cNvPr>
          <p:cNvSpPr>
            <a:spLocks noGrp="1"/>
          </p:cNvSpPr>
          <p:nvPr>
            <p:ph type="title"/>
          </p:nvPr>
        </p:nvSpPr>
        <p:spPr>
          <a:xfrm>
            <a:off x="587828" y="685720"/>
            <a:ext cx="9590314" cy="751195"/>
          </a:xfrm>
        </p:spPr>
        <p:txBody>
          <a:bodyPr anchor="t">
            <a:normAutofit/>
          </a:bodyPr>
          <a:lstStyle/>
          <a:p>
            <a:pPr algn="r"/>
            <a:r>
              <a:rPr lang="en-GB" sz="4800" dirty="0"/>
              <a:t>SRQ1 Attention Mechanisms</a:t>
            </a:r>
          </a:p>
        </p:txBody>
      </p:sp>
      <p:pic>
        <p:nvPicPr>
          <p:cNvPr id="7" name="Graphic 6">
            <a:extLst>
              <a:ext uri="{FF2B5EF4-FFF2-40B4-BE49-F238E27FC236}">
                <a16:creationId xmlns:a16="http://schemas.microsoft.com/office/drawing/2014/main" id="{B0F7A2BA-34E8-AD63-865B-B231450B9A2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3739" y="1436915"/>
            <a:ext cx="11484521" cy="4898570"/>
          </a:xfrm>
          <a:prstGeom prst="rect">
            <a:avLst/>
          </a:prstGeom>
        </p:spPr>
      </p:pic>
    </p:spTree>
    <p:extLst>
      <p:ext uri="{BB962C8B-B14F-4D97-AF65-F5344CB8AC3E}">
        <p14:creationId xmlns:p14="http://schemas.microsoft.com/office/powerpoint/2010/main" val="17335664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85279CF-EF17-E939-4286-7F29D65566D1}"/>
            </a:ext>
          </a:extLst>
        </p:cNvPr>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077F2783-2E7A-C9F5-41AA-A21B02067A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64381A8-F9DC-A505-7364-8AF295EDEFCC}"/>
              </a:ext>
            </a:extLst>
          </p:cNvPr>
          <p:cNvSpPr>
            <a:spLocks noGrp="1"/>
          </p:cNvSpPr>
          <p:nvPr>
            <p:ph type="title"/>
          </p:nvPr>
        </p:nvSpPr>
        <p:spPr>
          <a:xfrm>
            <a:off x="587828" y="685720"/>
            <a:ext cx="9590314" cy="751195"/>
          </a:xfrm>
        </p:spPr>
        <p:txBody>
          <a:bodyPr anchor="t">
            <a:normAutofit/>
          </a:bodyPr>
          <a:lstStyle/>
          <a:p>
            <a:pPr algn="r"/>
            <a:r>
              <a:rPr lang="en-GB" sz="4800" dirty="0"/>
              <a:t>SRQ2 Metric Learning</a:t>
            </a:r>
          </a:p>
        </p:txBody>
      </p:sp>
      <p:pic>
        <p:nvPicPr>
          <p:cNvPr id="3" name="Content Placeholder 3">
            <a:extLst>
              <a:ext uri="{FF2B5EF4-FFF2-40B4-BE49-F238E27FC236}">
                <a16:creationId xmlns:a16="http://schemas.microsoft.com/office/drawing/2014/main" id="{0CCB4009-4A37-F04B-9F77-09000BE3814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73453" y="1650359"/>
            <a:ext cx="11445093" cy="4391291"/>
          </a:xfrm>
          <a:prstGeom prst="rect">
            <a:avLst/>
          </a:prstGeom>
        </p:spPr>
      </p:pic>
    </p:spTree>
    <p:extLst>
      <p:ext uri="{BB962C8B-B14F-4D97-AF65-F5344CB8AC3E}">
        <p14:creationId xmlns:p14="http://schemas.microsoft.com/office/powerpoint/2010/main" val="42067880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111C3DB-109D-2447-8DF4-4ECFB974BE94}"/>
            </a:ext>
          </a:extLst>
        </p:cNvPr>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5F7EB201-CC3C-AA96-F807-A094BBE26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9F61A5-EE2E-19C5-8BB1-F30CD65477CE}"/>
              </a:ext>
            </a:extLst>
          </p:cNvPr>
          <p:cNvSpPr>
            <a:spLocks noGrp="1"/>
          </p:cNvSpPr>
          <p:nvPr>
            <p:ph type="title"/>
          </p:nvPr>
        </p:nvSpPr>
        <p:spPr>
          <a:xfrm>
            <a:off x="587828" y="685720"/>
            <a:ext cx="9590314" cy="751195"/>
          </a:xfrm>
        </p:spPr>
        <p:txBody>
          <a:bodyPr anchor="t">
            <a:normAutofit fontScale="90000"/>
          </a:bodyPr>
          <a:lstStyle/>
          <a:p>
            <a:pPr algn="r"/>
            <a:r>
              <a:rPr lang="en-GB" sz="4800" dirty="0"/>
              <a:t>SRQ3 Tokenised Self-Attention</a:t>
            </a:r>
            <a:br>
              <a:rPr lang="en-GB" sz="4800" dirty="0"/>
            </a:br>
            <a:endParaRPr lang="en-GB" sz="4800" dirty="0"/>
          </a:p>
        </p:txBody>
      </p:sp>
      <p:pic>
        <p:nvPicPr>
          <p:cNvPr id="5" name="Graphic 4">
            <a:extLst>
              <a:ext uri="{FF2B5EF4-FFF2-40B4-BE49-F238E27FC236}">
                <a16:creationId xmlns:a16="http://schemas.microsoft.com/office/drawing/2014/main" id="{A4F8A2EB-353E-3558-66F4-1223AEF682F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0025" y="1574346"/>
            <a:ext cx="11791950" cy="4514850"/>
          </a:xfrm>
          <a:prstGeom prst="rect">
            <a:avLst/>
          </a:prstGeom>
        </p:spPr>
      </p:pic>
    </p:spTree>
    <p:extLst>
      <p:ext uri="{BB962C8B-B14F-4D97-AF65-F5344CB8AC3E}">
        <p14:creationId xmlns:p14="http://schemas.microsoft.com/office/powerpoint/2010/main" val="26413970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CBBC8A2-111A-2375-0765-FF3DC67F530C}"/>
            </a:ext>
          </a:extLst>
        </p:cNvPr>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B731051A-C2D8-1C96-62CB-75D2E446A8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E8097D-4CC7-19DD-4047-48F60384976E}"/>
              </a:ext>
            </a:extLst>
          </p:cNvPr>
          <p:cNvSpPr>
            <a:spLocks noGrp="1"/>
          </p:cNvSpPr>
          <p:nvPr>
            <p:ph type="title"/>
          </p:nvPr>
        </p:nvSpPr>
        <p:spPr>
          <a:xfrm>
            <a:off x="2977461" y="493696"/>
            <a:ext cx="6237078" cy="751195"/>
          </a:xfrm>
        </p:spPr>
        <p:txBody>
          <a:bodyPr anchor="t">
            <a:normAutofit fontScale="90000"/>
          </a:bodyPr>
          <a:lstStyle/>
          <a:p>
            <a:pPr algn="r"/>
            <a:r>
              <a:rPr lang="en-GB" sz="4800"/>
              <a:t>SRQ4 ViT Comparison</a:t>
            </a:r>
            <a:br>
              <a:rPr lang="en-GB" sz="4800"/>
            </a:br>
            <a:endParaRPr lang="en-GB" sz="4800" dirty="0"/>
          </a:p>
        </p:txBody>
      </p:sp>
      <p:pic>
        <p:nvPicPr>
          <p:cNvPr id="4" name="Graphic 3">
            <a:extLst>
              <a:ext uri="{FF2B5EF4-FFF2-40B4-BE49-F238E27FC236}">
                <a16:creationId xmlns:a16="http://schemas.microsoft.com/office/drawing/2014/main" id="{CA8E604C-3E52-E288-44C7-4BC27218859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1289005"/>
            <a:ext cx="12192000" cy="4279989"/>
          </a:xfrm>
          <a:prstGeom prst="rect">
            <a:avLst/>
          </a:prstGeom>
        </p:spPr>
      </p:pic>
    </p:spTree>
    <p:extLst>
      <p:ext uri="{BB962C8B-B14F-4D97-AF65-F5344CB8AC3E}">
        <p14:creationId xmlns:p14="http://schemas.microsoft.com/office/powerpoint/2010/main" val="10051011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280BC-E7EF-D062-4A1D-5B3BEF7719A3}"/>
              </a:ext>
            </a:extLst>
          </p:cNvPr>
          <p:cNvSpPr>
            <a:spLocks noGrp="1"/>
          </p:cNvSpPr>
          <p:nvPr>
            <p:ph type="title"/>
          </p:nvPr>
        </p:nvSpPr>
        <p:spPr/>
        <p:txBody>
          <a:bodyPr/>
          <a:lstStyle/>
          <a:p>
            <a:r>
              <a:rPr lang="en-GB" dirty="0"/>
              <a:t>Sources</a:t>
            </a:r>
          </a:p>
        </p:txBody>
      </p:sp>
      <p:sp>
        <p:nvSpPr>
          <p:cNvPr id="3" name="Content Placeholder 2">
            <a:extLst>
              <a:ext uri="{FF2B5EF4-FFF2-40B4-BE49-F238E27FC236}">
                <a16:creationId xmlns:a16="http://schemas.microsoft.com/office/drawing/2014/main" id="{B7C92CE2-EC25-C3E6-FBE7-35B574B0570A}"/>
              </a:ext>
            </a:extLst>
          </p:cNvPr>
          <p:cNvSpPr>
            <a:spLocks noGrp="1"/>
          </p:cNvSpPr>
          <p:nvPr>
            <p:ph idx="1"/>
          </p:nvPr>
        </p:nvSpPr>
        <p:spPr/>
        <p:txBody>
          <a:bodyPr/>
          <a:lstStyle/>
          <a:p>
            <a:r>
              <a:rPr lang="en-GB" dirty="0"/>
              <a:t>Kaggle (2022), ‘Multiple sclerosis </a:t>
            </a:r>
            <a:r>
              <a:rPr lang="en-GB" dirty="0" err="1"/>
              <a:t>mri</a:t>
            </a:r>
            <a:r>
              <a:rPr lang="en-GB" dirty="0"/>
              <a:t> dataset’, https://www.kaggle.com/datasets/ </a:t>
            </a:r>
            <a:r>
              <a:rPr lang="en-GB" dirty="0" err="1"/>
              <a:t>buraktaci</a:t>
            </a:r>
            <a:r>
              <a:rPr lang="en-GB" dirty="0"/>
              <a:t>/multiple-sclerosis. Accessed: 16 March 2026.</a:t>
            </a:r>
          </a:p>
          <a:p>
            <a:r>
              <a:rPr lang="en-GB" dirty="0"/>
              <a:t>He, K., Zhang, X., Ren, S. and Sun, J. (2015), ‘Deep residual learning for image recognition’. URL: https://arxiv.org/abs/1512.03385</a:t>
            </a:r>
          </a:p>
          <a:p>
            <a:r>
              <a:rPr lang="en-GB" dirty="0"/>
              <a:t>Hu, J., Shen, L., Albanie, S., Sun, G. and Wu, E. (2019), ‘Squeeze-and-excitation networks’. URL: </a:t>
            </a:r>
            <a:r>
              <a:rPr lang="en-GB" dirty="0">
                <a:hlinkClick r:id="rId2"/>
              </a:rPr>
              <a:t>https://arxiv.org/abs/1709.01507</a:t>
            </a:r>
            <a:endParaRPr lang="en-GB" dirty="0"/>
          </a:p>
          <a:p>
            <a:r>
              <a:rPr lang="en-GB" dirty="0"/>
              <a:t>Woo, S., Park, J., Lee, J.-Y. and Kweon, I. S. (2018), ‘</a:t>
            </a:r>
            <a:r>
              <a:rPr lang="en-GB" dirty="0" err="1"/>
              <a:t>Cbam</a:t>
            </a:r>
            <a:r>
              <a:rPr lang="en-GB" dirty="0"/>
              <a:t>: Convolutional block attention module’. URL: </a:t>
            </a:r>
            <a:r>
              <a:rPr lang="en-GB" dirty="0">
                <a:hlinkClick r:id="rId3"/>
              </a:rPr>
              <a:t>https://arxiv.org/abs/1807.06521</a:t>
            </a:r>
            <a:endParaRPr lang="en-GB" dirty="0"/>
          </a:p>
          <a:p>
            <a:endParaRPr lang="en-GB" dirty="0"/>
          </a:p>
          <a:p>
            <a:endParaRPr lang="en-GB" dirty="0"/>
          </a:p>
          <a:p>
            <a:endParaRPr lang="en-GB" dirty="0"/>
          </a:p>
        </p:txBody>
      </p:sp>
    </p:spTree>
    <p:extLst>
      <p:ext uri="{BB962C8B-B14F-4D97-AF65-F5344CB8AC3E}">
        <p14:creationId xmlns:p14="http://schemas.microsoft.com/office/powerpoint/2010/main" val="1814708056"/>
      </p:ext>
    </p:extLst>
  </p:cSld>
  <p:clrMapOvr>
    <a:masterClrMapping/>
  </p:clrMapOvr>
</p:sld>
</file>

<file path=ppt/theme/theme1.xml><?xml version="1.0" encoding="utf-8"?>
<a:theme xmlns:a="http://schemas.openxmlformats.org/drawingml/2006/main" name="SwellVTI">
  <a:themeElements>
    <a:clrScheme name="Swell">
      <a:dk1>
        <a:sysClr val="windowText" lastClr="000000"/>
      </a:dk1>
      <a:lt1>
        <a:sysClr val="window" lastClr="FFFFFF"/>
      </a:lt1>
      <a:dk2>
        <a:srgbClr val="233B47"/>
      </a:dk2>
      <a:lt2>
        <a:srgbClr val="FEEFD9"/>
      </a:lt2>
      <a:accent1>
        <a:srgbClr val="16AEA7"/>
      </a:accent1>
      <a:accent2>
        <a:srgbClr val="618F88"/>
      </a:accent2>
      <a:accent3>
        <a:srgbClr val="7A9973"/>
      </a:accent3>
      <a:accent4>
        <a:srgbClr val="8AAE8E"/>
      </a:accent4>
      <a:accent5>
        <a:srgbClr val="EB8F60"/>
      </a:accent5>
      <a:accent6>
        <a:srgbClr val="E57A6F"/>
      </a:accent6>
      <a:hlink>
        <a:srgbClr val="13968F"/>
      </a:hlink>
      <a:folHlink>
        <a:srgbClr val="E56152"/>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wellVTI" id="{8361A04D-931A-43DC-973B-1B0B1DD5DECC}" vid="{6DDB23E8-D18E-4BDA-98D6-324466149EB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2484</Words>
  <Application>Microsoft Office PowerPoint</Application>
  <PresentationFormat>Widescreen</PresentationFormat>
  <Paragraphs>170</Paragraphs>
  <Slides>18</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Aptos</vt:lpstr>
      <vt:lpstr>Arial</vt:lpstr>
      <vt:lpstr>Neue Haas Grotesk Text Pro</vt:lpstr>
      <vt:lpstr>Wingdings</vt:lpstr>
      <vt:lpstr>SwellVTI</vt:lpstr>
      <vt:lpstr>ATTENTION-AUGMENTED CNN ARCHITECTURES FOR MULTIPLE SCLEROSIS MRI CLASSIFICATION: A COMPARATIVE STUDY OF ATTENTION MECHANISMS, METRIC LEARNING, AND VISION TRANSFORMERS</vt:lpstr>
      <vt:lpstr>Project Aims</vt:lpstr>
      <vt:lpstr>Multiple Sclerosis (MS)</vt:lpstr>
      <vt:lpstr>Diagnostic Challenges</vt:lpstr>
      <vt:lpstr>Convolutional Neural Networks (CNNs)</vt:lpstr>
      <vt:lpstr>Residual Networks (ResNets)</vt:lpstr>
      <vt:lpstr>Attention mechanisms</vt:lpstr>
      <vt:lpstr>Metric Learning</vt:lpstr>
      <vt:lpstr>Vision Transformers</vt:lpstr>
      <vt:lpstr>Dataset &amp; Setup</vt:lpstr>
      <vt:lpstr>Performance Metrics</vt:lpstr>
      <vt:lpstr>Two-Phase Transfer Learning</vt:lpstr>
      <vt:lpstr>Experimental Design Decisions</vt:lpstr>
      <vt:lpstr>SRQ1 Attention Mechanisms</vt:lpstr>
      <vt:lpstr>SRQ2 Metric Learning</vt:lpstr>
      <vt:lpstr>SRQ3 Tokenised Self-Attention </vt:lpstr>
      <vt:lpstr>SRQ4 ViT Comparison </vt:lpstr>
      <vt:lpstr>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Mark McNaught</dc:creator>
  <cp:lastModifiedBy>Mark McNaught</cp:lastModifiedBy>
  <cp:revision>3</cp:revision>
  <dcterms:created xsi:type="dcterms:W3CDTF">2026-03-18T13:50:15Z</dcterms:created>
  <dcterms:modified xsi:type="dcterms:W3CDTF">2026-03-27T05:51:47Z</dcterms:modified>
</cp:coreProperties>
</file>